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141B49"/>
          </a:solidFill>
          <a:ln/>
        </p:spPr>
      </p:sp>
      <p:sp>
        <p:nvSpPr>
          <p:cNvPr id="3" name="Shape 1"/>
          <p:cNvSpPr/>
          <p:nvPr/>
        </p:nvSpPr>
        <p:spPr>
          <a:xfrm>
            <a:off x="-1828800" y="4754880"/>
            <a:ext cx="4114800" cy="4114800"/>
          </a:xfrm>
          <a:prstGeom prst="ellipse">
            <a:avLst/>
          </a:prstGeom>
          <a:solidFill>
            <a:srgbClr val="141B49"/>
          </a:solidFill>
          <a:ln/>
        </p:spPr>
      </p:sp>
      <p:sp>
        <p:nvSpPr>
          <p:cNvPr id="4" name="Shape 2"/>
          <p:cNvSpPr/>
          <p:nvPr/>
        </p:nvSpPr>
        <p:spPr>
          <a:xfrm>
            <a:off x="4956048" y="1371600"/>
            <a:ext cx="2286000" cy="2286000"/>
          </a:xfrm>
          <a:prstGeom prst="ellipse">
            <a:avLst/>
          </a:prstGeom>
          <a:solidFill>
            <a:srgbClr val="F4F7FE"/>
          </a:solidFill>
          <a:ln/>
        </p:spPr>
      </p:sp>
      <p:sp>
        <p:nvSpPr>
          <p:cNvPr id="5" name="Text 3"/>
          <p:cNvSpPr txBox="1"/>
          <p:nvPr/>
        </p:nvSpPr>
        <p:spPr>
          <a:xfrm>
            <a:off x="4956048" y="1371600"/>
            <a:ext cx="2286000" cy="2286000"/>
          </a:xfrm>
          <a:prstGeom prst="rect">
            <a:avLst/>
          </a:prstGeom>
          <a:noFill/>
          <a:ln/>
        </p:spPr>
        <p:txBody>
          <a:bodyPr wrap="square" lIns="0" tIns="0" rIns="0" bIns="0" rtlCol="0" anchor="ctr"/>
          <a:lstStyle/>
          <a:p>
            <a:pPr algn="ctr" indent="0" marL="0">
              <a:buNone/>
            </a:pPr>
            <a:r>
              <a:rPr lang="en-US" sz="4400" b="1" dirty="0">
                <a:solidFill>
                  <a:srgbClr val="1E2761"/>
                </a:solidFill>
                <a:latin typeface="Cambria" pitchFamily="34" charset="0"/>
                <a:ea typeface="Cambria" pitchFamily="34" charset="-122"/>
                <a:cs typeface="Cambria" pitchFamily="34" charset="-120"/>
              </a:rPr>
              <a:t>YA</a:t>
            </a:r>
            <a:endParaRPr lang="en-US" sz="4400" dirty="0"/>
          </a:p>
        </p:txBody>
      </p:sp>
      <p:sp>
        <p:nvSpPr>
          <p:cNvPr id="6" name="Shape 4"/>
          <p:cNvSpPr/>
          <p:nvPr/>
        </p:nvSpPr>
        <p:spPr>
          <a:xfrm>
            <a:off x="5870448" y="3703320"/>
            <a:ext cx="457200" cy="45720"/>
          </a:xfrm>
          <a:prstGeom prst="rect">
            <a:avLst/>
          </a:prstGeom>
          <a:solidFill>
            <a:srgbClr val="F2A93B"/>
          </a:solidFill>
          <a:ln/>
        </p:spPr>
      </p:sp>
      <p:sp>
        <p:nvSpPr>
          <p:cNvPr id="7" name="Text 5"/>
          <p:cNvSpPr txBox="1"/>
          <p:nvPr/>
        </p:nvSpPr>
        <p:spPr>
          <a:xfrm>
            <a:off x="914400" y="3931920"/>
            <a:ext cx="10360152"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Yamini Adurthi</a:t>
            </a:r>
            <a:endParaRPr lang="en-US" sz="3400" dirty="0"/>
          </a:p>
        </p:txBody>
      </p:sp>
      <p:sp>
        <p:nvSpPr>
          <p:cNvPr id="8" name="Text 6"/>
          <p:cNvSpPr txBox="1"/>
          <p:nvPr/>
        </p:nvSpPr>
        <p:spPr>
          <a:xfrm>
            <a:off x="914400" y="4572000"/>
            <a:ext cx="10360152" cy="411480"/>
          </a:xfrm>
          <a:prstGeom prst="rect">
            <a:avLst/>
          </a:prstGeom>
          <a:noFill/>
          <a:ln/>
        </p:spPr>
        <p:txBody>
          <a:bodyPr wrap="square" lIns="0" tIns="0" rIns="0" bIns="0" rtlCol="0" anchor="ctr"/>
          <a:lstStyle/>
          <a:p>
            <a:pPr algn="ctr" indent="0" marL="0">
              <a:buNone/>
            </a:pPr>
            <a:r>
              <a:rPr lang="en-US" sz="1600" b="1" spc="200" kern="0" dirty="0">
                <a:solidFill>
                  <a:srgbClr val="F2A93B"/>
                </a:solidFill>
                <a:latin typeface="Calibri" pitchFamily="34" charset="0"/>
                <a:ea typeface="Calibri" pitchFamily="34" charset="-122"/>
                <a:cs typeface="Calibri" pitchFamily="34" charset="-120"/>
              </a:rPr>
              <a:t>MCA</a:t>
            </a:r>
            <a:endParaRPr lang="en-US" sz="1600" dirty="0"/>
          </a:p>
        </p:txBody>
      </p:sp>
      <p:sp>
        <p:nvSpPr>
          <p:cNvPr id="9" name="Text 7"/>
          <p:cNvSpPr txBox="1"/>
          <p:nvPr/>
        </p:nvSpPr>
        <p:spPr>
          <a:xfrm>
            <a:off x="914400" y="5074920"/>
            <a:ext cx="10360152" cy="365760"/>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Presenting: EduVision_DV — Higher Education Performance Dashboard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141B49"/>
          </a:solidFill>
          <a:ln/>
        </p:spPr>
      </p:sp>
      <p:sp>
        <p:nvSpPr>
          <p:cNvPr id="3" name="Shape 1"/>
          <p:cNvSpPr/>
          <p:nvPr/>
        </p:nvSpPr>
        <p:spPr>
          <a:xfrm>
            <a:off x="-1828800" y="4754880"/>
            <a:ext cx="4114800" cy="4114800"/>
          </a:xfrm>
          <a:prstGeom prst="ellipse">
            <a:avLst/>
          </a:prstGeom>
          <a:solidFill>
            <a:srgbClr val="141B49"/>
          </a:solidFill>
          <a:ln/>
        </p:spPr>
      </p:sp>
      <p:sp>
        <p:nvSpPr>
          <p:cNvPr id="4" name="Text 2"/>
          <p:cNvSpPr txBox="1"/>
          <p:nvPr/>
        </p:nvSpPr>
        <p:spPr>
          <a:xfrm>
            <a:off x="822960" y="2331720"/>
            <a:ext cx="7315200" cy="365760"/>
          </a:xfrm>
          <a:prstGeom prst="rect">
            <a:avLst/>
          </a:prstGeom>
          <a:noFill/>
          <a:ln/>
        </p:spPr>
        <p:txBody>
          <a:bodyPr wrap="square" lIns="0" tIns="0" rIns="0" bIns="0" rtlCol="0" anchor="ctr"/>
          <a:lstStyle/>
          <a:p>
            <a:pPr indent="0" marL="0">
              <a:buNone/>
            </a:pPr>
            <a:r>
              <a:rPr lang="en-US" sz="1600" b="1" spc="300" kern="0" dirty="0">
                <a:solidFill>
                  <a:srgbClr val="F2A93B"/>
                </a:solidFill>
                <a:latin typeface="Calibri" pitchFamily="34" charset="0"/>
                <a:ea typeface="Calibri" pitchFamily="34" charset="-122"/>
                <a:cs typeface="Calibri" pitchFamily="34" charset="-120"/>
              </a:rPr>
              <a:t>EDUVISION_DV</a:t>
            </a:r>
            <a:endParaRPr lang="en-US" sz="1600" dirty="0"/>
          </a:p>
        </p:txBody>
      </p:sp>
      <p:sp>
        <p:nvSpPr>
          <p:cNvPr id="5" name="Text 3"/>
          <p:cNvSpPr txBox="1"/>
          <p:nvPr/>
        </p:nvSpPr>
        <p:spPr>
          <a:xfrm>
            <a:off x="822960" y="2697480"/>
            <a:ext cx="987552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Higher Education Performance Dashboard</a:t>
            </a:r>
            <a:endParaRPr lang="en-US" sz="4000" dirty="0"/>
          </a:p>
        </p:txBody>
      </p:sp>
      <p:sp>
        <p:nvSpPr>
          <p:cNvPr id="6" name="Text 4"/>
          <p:cNvSpPr txBox="1"/>
          <p:nvPr/>
        </p:nvSpPr>
        <p:spPr>
          <a:xfrm>
            <a:off x="822960" y="3977640"/>
            <a:ext cx="8686800" cy="822960"/>
          </a:xfrm>
          <a:prstGeom prst="rect">
            <a:avLst/>
          </a:prstGeom>
          <a:noFill/>
          <a:ln/>
        </p:spPr>
        <p:txBody>
          <a:bodyPr wrap="square" lIns="0" tIns="0" rIns="0" bIns="0"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A simple guide to the dashboard: what it shows, how it is organized,</a:t>
            </a:r>
            <a:endParaRPr lang="en-US" sz="1600" dirty="0"/>
          </a:p>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and what the numbers tell us about universities around the world.</a:t>
            </a:r>
            <a:endParaRPr lang="en-US" sz="1600" dirty="0"/>
          </a:p>
        </p:txBody>
      </p:sp>
      <p:sp>
        <p:nvSpPr>
          <p:cNvPr id="7" name="Shape 5"/>
          <p:cNvSpPr/>
          <p:nvPr/>
        </p:nvSpPr>
        <p:spPr>
          <a:xfrm>
            <a:off x="822960" y="3840480"/>
            <a:ext cx="457200" cy="36576"/>
          </a:xfrm>
          <a:prstGeom prst="rect">
            <a:avLst/>
          </a:prstGeom>
          <a:solidFill>
            <a:srgbClr val="F2A93B"/>
          </a:solidFill>
          <a:ln/>
        </p:spPr>
      </p:sp>
      <p:sp>
        <p:nvSpPr>
          <p:cNvPr id="8" name="Text 6"/>
          <p:cNvSpPr txBox="1"/>
          <p:nvPr/>
        </p:nvSpPr>
        <p:spPr>
          <a:xfrm>
            <a:off x="822960" y="6126480"/>
            <a:ext cx="73152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Prepared from the EduVision_DV Tableau Dashboard  •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is this dashboard?</a:t>
            </a:r>
            <a:endParaRPr lang="en-US" sz="3200" dirty="0"/>
          </a:p>
        </p:txBody>
      </p:sp>
      <p:sp>
        <p:nvSpPr>
          <p:cNvPr id="4" name="Text 2"/>
          <p:cNvSpPr txBox="1"/>
          <p:nvPr/>
        </p:nvSpPr>
        <p:spPr>
          <a:xfrm>
            <a:off x="548640" y="1554480"/>
            <a:ext cx="5760720" cy="1645920"/>
          </a:xfrm>
          <a:prstGeom prst="rect">
            <a:avLst/>
          </a:prstGeom>
          <a:noFill/>
          <a:ln/>
        </p:spPr>
        <p:txBody>
          <a:bodyPr wrap="square" lIns="0" tIns="0" rIns="0" bIns="0" rtlCol="0" anchor="ctr"/>
          <a:lstStyle/>
          <a:p>
            <a:pPr indent="0" marL="0">
              <a:lnSpc>
                <a:spcPct val="135000"/>
              </a:lnSpc>
              <a:buNone/>
            </a:pPr>
            <a:r>
              <a:rPr lang="en-US" sz="1500" dirty="0">
                <a:solidFill>
                  <a:srgbClr val="1E2761"/>
                </a:solidFill>
                <a:latin typeface="Calibri" pitchFamily="34" charset="0"/>
                <a:ea typeface="Calibri" pitchFamily="34" charset="-122"/>
                <a:cs typeface="Calibri" pitchFamily="34" charset="-120"/>
              </a:rPr>
              <a:t>EduVision_DV is an interactive dashboard built in Tableau. It brings together data on thousands of universities across the world, so we can compare them on things like reputation, research, students, and country performance.</a:t>
            </a:r>
            <a:endParaRPr lang="en-US" sz="1500" dirty="0"/>
          </a:p>
        </p:txBody>
      </p:sp>
      <p:sp>
        <p:nvSpPr>
          <p:cNvPr id="5" name="Shape 3"/>
          <p:cNvSpPr/>
          <p:nvPr/>
        </p:nvSpPr>
        <p:spPr>
          <a:xfrm>
            <a:off x="548640" y="3383280"/>
            <a:ext cx="502920" cy="502920"/>
          </a:xfrm>
          <a:prstGeom prst="ellipse">
            <a:avLst/>
          </a:prstGeom>
          <a:solidFill>
            <a:srgbClr val="CADCFC"/>
          </a:solidFill>
          <a:ln/>
        </p:spPr>
      </p:sp>
      <p:sp>
        <p:nvSpPr>
          <p:cNvPr id="6" name="Text 4"/>
          <p:cNvSpPr txBox="1"/>
          <p:nvPr/>
        </p:nvSpPr>
        <p:spPr>
          <a:xfrm>
            <a:off x="548640" y="338328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234440" y="3337560"/>
            <a:ext cx="50749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Explore easily</a:t>
            </a:r>
            <a:endParaRPr lang="en-US" sz="1600" dirty="0"/>
          </a:p>
        </p:txBody>
      </p:sp>
      <p:sp>
        <p:nvSpPr>
          <p:cNvPr id="8" name="Text 6"/>
          <p:cNvSpPr txBox="1"/>
          <p:nvPr/>
        </p:nvSpPr>
        <p:spPr>
          <a:xfrm>
            <a:off x="1234440" y="3685032"/>
            <a:ext cx="507492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Filters let anyone slice the data by country, region, university, or subject.</a:t>
            </a:r>
            <a:endParaRPr lang="en-US" sz="1300" dirty="0"/>
          </a:p>
        </p:txBody>
      </p:sp>
      <p:sp>
        <p:nvSpPr>
          <p:cNvPr id="9" name="Shape 7"/>
          <p:cNvSpPr/>
          <p:nvPr/>
        </p:nvSpPr>
        <p:spPr>
          <a:xfrm>
            <a:off x="548640" y="4343400"/>
            <a:ext cx="502920" cy="502920"/>
          </a:xfrm>
          <a:prstGeom prst="ellipse">
            <a:avLst/>
          </a:prstGeom>
          <a:solidFill>
            <a:srgbClr val="CADCFC"/>
          </a:solidFill>
          <a:ln/>
        </p:spPr>
      </p:sp>
      <p:sp>
        <p:nvSpPr>
          <p:cNvPr id="10" name="Text 8"/>
          <p:cNvSpPr txBox="1"/>
          <p:nvPr/>
        </p:nvSpPr>
        <p:spPr>
          <a:xfrm>
            <a:off x="548640" y="434340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234440" y="4297680"/>
            <a:ext cx="50749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See the big picture</a:t>
            </a:r>
            <a:endParaRPr lang="en-US" sz="1600" dirty="0"/>
          </a:p>
        </p:txBody>
      </p:sp>
      <p:sp>
        <p:nvSpPr>
          <p:cNvPr id="12" name="Text 10"/>
          <p:cNvSpPr txBox="1"/>
          <p:nvPr/>
        </p:nvSpPr>
        <p:spPr>
          <a:xfrm>
            <a:off x="1234440" y="4645152"/>
            <a:ext cx="507492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Big number cards show totals and averages at a glance.</a:t>
            </a:r>
            <a:endParaRPr lang="en-US" sz="1300" dirty="0"/>
          </a:p>
        </p:txBody>
      </p:sp>
      <p:sp>
        <p:nvSpPr>
          <p:cNvPr id="13" name="Shape 11"/>
          <p:cNvSpPr/>
          <p:nvPr/>
        </p:nvSpPr>
        <p:spPr>
          <a:xfrm>
            <a:off x="548640" y="5303520"/>
            <a:ext cx="502920" cy="502920"/>
          </a:xfrm>
          <a:prstGeom prst="ellipse">
            <a:avLst/>
          </a:prstGeom>
          <a:solidFill>
            <a:srgbClr val="CADCFC"/>
          </a:solidFill>
          <a:ln/>
        </p:spPr>
      </p:sp>
      <p:sp>
        <p:nvSpPr>
          <p:cNvPr id="14" name="Text 12"/>
          <p:cNvSpPr txBox="1"/>
          <p:nvPr/>
        </p:nvSpPr>
        <p:spPr>
          <a:xfrm>
            <a:off x="548640" y="530352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234440" y="5257800"/>
            <a:ext cx="50749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Compare fairly</a:t>
            </a:r>
            <a:endParaRPr lang="en-US" sz="1600" dirty="0"/>
          </a:p>
        </p:txBody>
      </p:sp>
      <p:sp>
        <p:nvSpPr>
          <p:cNvPr id="16" name="Text 14"/>
          <p:cNvSpPr txBox="1"/>
          <p:nvPr/>
        </p:nvSpPr>
        <p:spPr>
          <a:xfrm>
            <a:off x="1234440" y="5605272"/>
            <a:ext cx="507492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Charts and rankings make it easy to compare universities and countries.</a:t>
            </a:r>
            <a:endParaRPr lang="en-US" sz="1300" dirty="0"/>
          </a:p>
        </p:txBody>
      </p:sp>
      <p:sp>
        <p:nvSpPr>
          <p:cNvPr id="17" name="Shape 15"/>
          <p:cNvSpPr/>
          <p:nvPr/>
        </p:nvSpPr>
        <p:spPr>
          <a:xfrm>
            <a:off x="6766560" y="1554480"/>
            <a:ext cx="4846320" cy="4572000"/>
          </a:xfrm>
          <a:prstGeom prst="roundRect">
            <a:avLst>
              <a:gd name="adj" fmla="val 2000"/>
            </a:avLst>
          </a:prstGeom>
          <a:solidFill>
            <a:srgbClr val="F4F7FE"/>
          </a:solidFill>
          <a:ln/>
        </p:spPr>
      </p:sp>
      <p:sp>
        <p:nvSpPr>
          <p:cNvPr id="18" name="Text 16"/>
          <p:cNvSpPr txBox="1"/>
          <p:nvPr/>
        </p:nvSpPr>
        <p:spPr>
          <a:xfrm>
            <a:off x="7040880" y="1783080"/>
            <a:ext cx="438912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Covers the whole picture</a:t>
            </a:r>
            <a:endParaRPr lang="en-US" sz="1700" dirty="0"/>
          </a:p>
        </p:txBody>
      </p:sp>
      <p:sp>
        <p:nvSpPr>
          <p:cNvPr id="19" name="Shape 17"/>
          <p:cNvSpPr/>
          <p:nvPr/>
        </p:nvSpPr>
        <p:spPr>
          <a:xfrm>
            <a:off x="7040880" y="2331720"/>
            <a:ext cx="2148840" cy="1554480"/>
          </a:xfrm>
          <a:prstGeom prst="roundRect">
            <a:avLst>
              <a:gd name="adj" fmla="val 4706"/>
            </a:avLst>
          </a:prstGeom>
          <a:solidFill>
            <a:srgbClr val="F4F7FE"/>
          </a:solidFill>
          <a:ln/>
          <a:effectLst>
            <a:outerShdw sx="100000" sy="100000" kx="0" ky="0" algn="bl" rotWithShape="0" blurRad="76200" dist="25400" dir="5400000">
              <a:srgbClr val="8896B8">
                <a:alpha val="25000"/>
              </a:srgbClr>
            </a:outerShdw>
          </a:effectLst>
        </p:spPr>
      </p:sp>
      <p:sp>
        <p:nvSpPr>
          <p:cNvPr id="20" name="Text 18"/>
          <p:cNvSpPr txBox="1"/>
          <p:nvPr/>
        </p:nvSpPr>
        <p:spPr>
          <a:xfrm>
            <a:off x="7132320" y="2496312"/>
            <a:ext cx="1965960" cy="854964"/>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3,403</a:t>
            </a:r>
            <a:endParaRPr lang="en-US" sz="3000" dirty="0"/>
          </a:p>
        </p:txBody>
      </p:sp>
      <p:sp>
        <p:nvSpPr>
          <p:cNvPr id="21" name="Text 19"/>
          <p:cNvSpPr txBox="1"/>
          <p:nvPr/>
        </p:nvSpPr>
        <p:spPr>
          <a:xfrm>
            <a:off x="7132320" y="3295498"/>
            <a:ext cx="1965960" cy="528523"/>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Universities</a:t>
            </a:r>
            <a:endParaRPr lang="en-US" sz="1300" dirty="0"/>
          </a:p>
        </p:txBody>
      </p:sp>
      <p:sp>
        <p:nvSpPr>
          <p:cNvPr id="22" name="Shape 20"/>
          <p:cNvSpPr/>
          <p:nvPr/>
        </p:nvSpPr>
        <p:spPr>
          <a:xfrm>
            <a:off x="7914132" y="3831336"/>
            <a:ext cx="402336" cy="45720"/>
          </a:xfrm>
          <a:prstGeom prst="rect">
            <a:avLst/>
          </a:prstGeom>
          <a:solidFill>
            <a:srgbClr val="F2A93B"/>
          </a:solidFill>
          <a:ln/>
        </p:spPr>
      </p:sp>
      <p:sp>
        <p:nvSpPr>
          <p:cNvPr id="23" name="Shape 21"/>
          <p:cNvSpPr/>
          <p:nvPr/>
        </p:nvSpPr>
        <p:spPr>
          <a:xfrm>
            <a:off x="9372600" y="2331720"/>
            <a:ext cx="2148840" cy="1554480"/>
          </a:xfrm>
          <a:prstGeom prst="roundRect">
            <a:avLst>
              <a:gd name="adj" fmla="val 4706"/>
            </a:avLst>
          </a:prstGeom>
          <a:solidFill>
            <a:srgbClr val="F4F7FE"/>
          </a:solidFill>
          <a:ln/>
          <a:effectLst>
            <a:outerShdw sx="100000" sy="100000" kx="0" ky="0" algn="bl" rotWithShape="0" blurRad="76200" dist="25400" dir="5400000">
              <a:srgbClr val="8896B8">
                <a:alpha val="25000"/>
              </a:srgbClr>
            </a:outerShdw>
          </a:effectLst>
        </p:spPr>
      </p:sp>
      <p:sp>
        <p:nvSpPr>
          <p:cNvPr id="24" name="Text 22"/>
          <p:cNvSpPr txBox="1"/>
          <p:nvPr/>
        </p:nvSpPr>
        <p:spPr>
          <a:xfrm>
            <a:off x="9464040" y="2496312"/>
            <a:ext cx="1965960" cy="854964"/>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105</a:t>
            </a:r>
            <a:endParaRPr lang="en-US" sz="3000" dirty="0"/>
          </a:p>
        </p:txBody>
      </p:sp>
      <p:sp>
        <p:nvSpPr>
          <p:cNvPr id="25" name="Text 23"/>
          <p:cNvSpPr txBox="1"/>
          <p:nvPr/>
        </p:nvSpPr>
        <p:spPr>
          <a:xfrm>
            <a:off x="9464040" y="3295498"/>
            <a:ext cx="1965960" cy="528523"/>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Countries</a:t>
            </a:r>
            <a:endParaRPr lang="en-US" sz="1300" dirty="0"/>
          </a:p>
        </p:txBody>
      </p:sp>
      <p:sp>
        <p:nvSpPr>
          <p:cNvPr id="26" name="Shape 24"/>
          <p:cNvSpPr/>
          <p:nvPr/>
        </p:nvSpPr>
        <p:spPr>
          <a:xfrm>
            <a:off x="10245852" y="3831336"/>
            <a:ext cx="402336" cy="45720"/>
          </a:xfrm>
          <a:prstGeom prst="rect">
            <a:avLst/>
          </a:prstGeom>
          <a:solidFill>
            <a:srgbClr val="F2A93B"/>
          </a:solidFill>
          <a:ln/>
        </p:spPr>
      </p:sp>
      <p:sp>
        <p:nvSpPr>
          <p:cNvPr id="27" name="Shape 25"/>
          <p:cNvSpPr/>
          <p:nvPr/>
        </p:nvSpPr>
        <p:spPr>
          <a:xfrm>
            <a:off x="7040880" y="4114800"/>
            <a:ext cx="2148840" cy="1554480"/>
          </a:xfrm>
          <a:prstGeom prst="roundRect">
            <a:avLst>
              <a:gd name="adj" fmla="val 4706"/>
            </a:avLst>
          </a:prstGeom>
          <a:solidFill>
            <a:srgbClr val="F4F7FE"/>
          </a:solidFill>
          <a:ln/>
          <a:effectLst>
            <a:outerShdw sx="100000" sy="100000" kx="0" ky="0" algn="bl" rotWithShape="0" blurRad="76200" dist="25400" dir="5400000">
              <a:srgbClr val="8896B8">
                <a:alpha val="25000"/>
              </a:srgbClr>
            </a:outerShdw>
          </a:effectLst>
        </p:spPr>
      </p:sp>
      <p:sp>
        <p:nvSpPr>
          <p:cNvPr id="28" name="Text 26"/>
          <p:cNvSpPr txBox="1"/>
          <p:nvPr/>
        </p:nvSpPr>
        <p:spPr>
          <a:xfrm>
            <a:off x="7132320" y="4279392"/>
            <a:ext cx="1965960" cy="854964"/>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5</a:t>
            </a:r>
            <a:endParaRPr lang="en-US" sz="3000" dirty="0"/>
          </a:p>
        </p:txBody>
      </p:sp>
      <p:sp>
        <p:nvSpPr>
          <p:cNvPr id="29" name="Text 27"/>
          <p:cNvSpPr txBox="1"/>
          <p:nvPr/>
        </p:nvSpPr>
        <p:spPr>
          <a:xfrm>
            <a:off x="7132320" y="5078578"/>
            <a:ext cx="1965960" cy="528523"/>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Regions</a:t>
            </a:r>
            <a:endParaRPr lang="en-US" sz="1300" dirty="0"/>
          </a:p>
        </p:txBody>
      </p:sp>
      <p:sp>
        <p:nvSpPr>
          <p:cNvPr id="30" name="Shape 28"/>
          <p:cNvSpPr/>
          <p:nvPr/>
        </p:nvSpPr>
        <p:spPr>
          <a:xfrm>
            <a:off x="7914132" y="5614416"/>
            <a:ext cx="402336" cy="45720"/>
          </a:xfrm>
          <a:prstGeom prst="rect">
            <a:avLst/>
          </a:prstGeom>
          <a:solidFill>
            <a:srgbClr val="F2A93B"/>
          </a:solidFill>
          <a:ln/>
        </p:spPr>
      </p:sp>
      <p:sp>
        <p:nvSpPr>
          <p:cNvPr id="31" name="Shape 29"/>
          <p:cNvSpPr/>
          <p:nvPr/>
        </p:nvSpPr>
        <p:spPr>
          <a:xfrm>
            <a:off x="9372600" y="4114800"/>
            <a:ext cx="2148840" cy="1554480"/>
          </a:xfrm>
          <a:prstGeom prst="roundRect">
            <a:avLst>
              <a:gd name="adj" fmla="val 4706"/>
            </a:avLst>
          </a:prstGeom>
          <a:solidFill>
            <a:srgbClr val="F4F7FE"/>
          </a:solidFill>
          <a:ln/>
          <a:effectLst>
            <a:outerShdw sx="100000" sy="100000" kx="0" ky="0" algn="bl" rotWithShape="0" blurRad="76200" dist="25400" dir="5400000">
              <a:srgbClr val="8896B8">
                <a:alpha val="25000"/>
              </a:srgbClr>
            </a:outerShdw>
          </a:effectLst>
        </p:spPr>
      </p:sp>
      <p:sp>
        <p:nvSpPr>
          <p:cNvPr id="32" name="Text 30"/>
          <p:cNvSpPr txBox="1"/>
          <p:nvPr/>
        </p:nvSpPr>
        <p:spPr>
          <a:xfrm>
            <a:off x="9464040" y="4279392"/>
            <a:ext cx="1965960" cy="854964"/>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23.93</a:t>
            </a:r>
            <a:endParaRPr lang="en-US" sz="3000" dirty="0"/>
          </a:p>
        </p:txBody>
      </p:sp>
      <p:sp>
        <p:nvSpPr>
          <p:cNvPr id="33" name="Text 31"/>
          <p:cNvSpPr txBox="1"/>
          <p:nvPr/>
        </p:nvSpPr>
        <p:spPr>
          <a:xfrm>
            <a:off x="9464040" y="5078578"/>
            <a:ext cx="1965960" cy="528523"/>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Avg. Overall Score</a:t>
            </a:r>
            <a:endParaRPr lang="en-US" sz="1300" dirty="0"/>
          </a:p>
        </p:txBody>
      </p:sp>
      <p:sp>
        <p:nvSpPr>
          <p:cNvPr id="34" name="Shape 32"/>
          <p:cNvSpPr/>
          <p:nvPr/>
        </p:nvSpPr>
        <p:spPr>
          <a:xfrm>
            <a:off x="10245852" y="5614416"/>
            <a:ext cx="402336" cy="45720"/>
          </a:xfrm>
          <a:prstGeom prst="rect">
            <a:avLst/>
          </a:prstGeom>
          <a:solidFill>
            <a:srgbClr val="F2A93B"/>
          </a:solidFill>
          <a:ln/>
        </p:spPr>
      </p:sp>
      <p:sp>
        <p:nvSpPr>
          <p:cNvPr id="35" name="Text 3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36" name="Text 3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LAYOUT</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the dashboard is organized</a:t>
            </a:r>
            <a:endParaRPr lang="en-US" sz="3200" dirty="0"/>
          </a:p>
        </p:txBody>
      </p:sp>
      <p:sp>
        <p:nvSpPr>
          <p:cNvPr id="4" name="Text 2"/>
          <p:cNvSpPr txBox="1"/>
          <p:nvPr/>
        </p:nvSpPr>
        <p:spPr>
          <a:xfrm>
            <a:off x="548640" y="1463040"/>
            <a:ext cx="10515600" cy="457200"/>
          </a:xfrm>
          <a:prstGeom prst="rect">
            <a:avLst/>
          </a:prstGeom>
          <a:noFill/>
          <a:ln/>
        </p:spPr>
        <p:txBody>
          <a:bodyPr wrap="square" lIns="0" tIns="0" rIns="0" bIns="0" rtlCol="0" anchor="ctr"/>
          <a:lstStyle/>
          <a:p>
            <a:pPr indent="0" marL="0">
              <a:buNone/>
            </a:pPr>
            <a:r>
              <a:rPr lang="en-US" sz="1500" dirty="0">
                <a:solidFill>
                  <a:srgbClr val="5B6B8C"/>
                </a:solidFill>
                <a:latin typeface="Calibri" pitchFamily="34" charset="0"/>
                <a:ea typeface="Calibri" pitchFamily="34" charset="-122"/>
                <a:cs typeface="Calibri" pitchFamily="34" charset="-120"/>
              </a:rPr>
              <a:t>The dashboard has four main sections (tabs). Each one looks at the data from a different angle.</a:t>
            </a:r>
            <a:endParaRPr lang="en-US" sz="1500" dirty="0"/>
          </a:p>
        </p:txBody>
      </p:sp>
      <p:sp>
        <p:nvSpPr>
          <p:cNvPr id="5" name="Shape 3"/>
          <p:cNvSpPr/>
          <p:nvPr/>
        </p:nvSpPr>
        <p:spPr>
          <a:xfrm>
            <a:off x="548640" y="2286000"/>
            <a:ext cx="2651760" cy="3566160"/>
          </a:xfrm>
          <a:prstGeom prst="roundRect">
            <a:avLst>
              <a:gd name="adj" fmla="val 3448"/>
            </a:avLst>
          </a:prstGeom>
          <a:solidFill>
            <a:srgbClr val="1E2761"/>
          </a:solidFill>
          <a:ln/>
        </p:spPr>
      </p:sp>
      <p:sp>
        <p:nvSpPr>
          <p:cNvPr id="6" name="Shape 4"/>
          <p:cNvSpPr/>
          <p:nvPr/>
        </p:nvSpPr>
        <p:spPr>
          <a:xfrm>
            <a:off x="1554480" y="2606040"/>
            <a:ext cx="640080" cy="640080"/>
          </a:xfrm>
          <a:prstGeom prst="ellipse">
            <a:avLst/>
          </a:prstGeom>
          <a:solidFill>
            <a:srgbClr val="F2A93B"/>
          </a:solidFill>
          <a:ln/>
        </p:spPr>
      </p:sp>
      <p:sp>
        <p:nvSpPr>
          <p:cNvPr id="7" name="Text 5"/>
          <p:cNvSpPr txBox="1"/>
          <p:nvPr/>
        </p:nvSpPr>
        <p:spPr>
          <a:xfrm>
            <a:off x="1554480" y="2606040"/>
            <a:ext cx="640080" cy="640080"/>
          </a:xfrm>
          <a:prstGeom prst="rect">
            <a:avLst/>
          </a:prstGeom>
          <a:noFill/>
          <a:ln/>
        </p:spPr>
        <p:txBody>
          <a:bodyPr wrap="square" lIns="0" tIns="0" rIns="0" bIns="0"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A</a:t>
            </a:r>
            <a:endParaRPr lang="en-US" sz="2400" dirty="0"/>
          </a:p>
        </p:txBody>
      </p:sp>
      <p:sp>
        <p:nvSpPr>
          <p:cNvPr id="8" name="Text 6"/>
          <p:cNvSpPr txBox="1"/>
          <p:nvPr/>
        </p:nvSpPr>
        <p:spPr>
          <a:xfrm>
            <a:off x="731520" y="3474720"/>
            <a:ext cx="228600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University Overview</a:t>
            </a:r>
            <a:endParaRPr lang="en-US" sz="1600" dirty="0"/>
          </a:p>
        </p:txBody>
      </p:sp>
      <p:sp>
        <p:nvSpPr>
          <p:cNvPr id="9" name="Text 7"/>
          <p:cNvSpPr txBox="1"/>
          <p:nvPr/>
        </p:nvSpPr>
        <p:spPr>
          <a:xfrm>
            <a:off x="731520" y="4251960"/>
            <a:ext cx="2286000" cy="1463040"/>
          </a:xfrm>
          <a:prstGeom prst="rect">
            <a:avLst/>
          </a:prstGeom>
          <a:noFill/>
          <a:ln/>
        </p:spPr>
        <p:txBody>
          <a:bodyPr wrap="square" lIns="0" tIns="0" rIns="0" bIns="0" rtlCol="0" anchor="ctr"/>
          <a:lstStyle/>
          <a:p>
            <a:pPr algn="ctr" indent="0" marL="0">
              <a:lnSpc>
                <a:spcPct val="125000"/>
              </a:lnSpc>
              <a:buNone/>
            </a:pPr>
            <a:r>
              <a:rPr lang="en-US" sz="1250" dirty="0">
                <a:solidFill>
                  <a:srgbClr val="CADCFC"/>
                </a:solidFill>
                <a:latin typeface="Calibri" pitchFamily="34" charset="0"/>
                <a:ea typeface="Calibri" pitchFamily="34" charset="-122"/>
                <a:cs typeface="Calibri" pitchFamily="34" charset="-120"/>
              </a:rPr>
              <a:t>Top universities, where they are in the world, and how they compare to each other.</a:t>
            </a:r>
            <a:endParaRPr lang="en-US" sz="1250" dirty="0"/>
          </a:p>
        </p:txBody>
      </p:sp>
      <p:sp>
        <p:nvSpPr>
          <p:cNvPr id="10" name="Shape 8"/>
          <p:cNvSpPr/>
          <p:nvPr/>
        </p:nvSpPr>
        <p:spPr>
          <a:xfrm>
            <a:off x="3429000" y="2286000"/>
            <a:ext cx="2651760" cy="3566160"/>
          </a:xfrm>
          <a:prstGeom prst="roundRect">
            <a:avLst>
              <a:gd name="adj" fmla="val 3448"/>
            </a:avLst>
          </a:prstGeom>
          <a:solidFill>
            <a:srgbClr val="F4F7FE"/>
          </a:solidFill>
          <a:ln/>
        </p:spPr>
      </p:sp>
      <p:sp>
        <p:nvSpPr>
          <p:cNvPr id="11" name="Shape 9"/>
          <p:cNvSpPr/>
          <p:nvPr/>
        </p:nvSpPr>
        <p:spPr>
          <a:xfrm>
            <a:off x="4434840" y="2606040"/>
            <a:ext cx="640080" cy="640080"/>
          </a:xfrm>
          <a:prstGeom prst="ellipse">
            <a:avLst/>
          </a:prstGeom>
          <a:solidFill>
            <a:srgbClr val="F2A93B"/>
          </a:solidFill>
          <a:ln/>
        </p:spPr>
      </p:sp>
      <p:sp>
        <p:nvSpPr>
          <p:cNvPr id="12" name="Text 10"/>
          <p:cNvSpPr txBox="1"/>
          <p:nvPr/>
        </p:nvSpPr>
        <p:spPr>
          <a:xfrm>
            <a:off x="4434840" y="2606040"/>
            <a:ext cx="640080" cy="640080"/>
          </a:xfrm>
          <a:prstGeom prst="rect">
            <a:avLst/>
          </a:prstGeom>
          <a:noFill/>
          <a:ln/>
        </p:spPr>
        <p:txBody>
          <a:bodyPr wrap="square" lIns="0" tIns="0" rIns="0" bIns="0"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B</a:t>
            </a:r>
            <a:endParaRPr lang="en-US" sz="2400" dirty="0"/>
          </a:p>
        </p:txBody>
      </p:sp>
      <p:sp>
        <p:nvSpPr>
          <p:cNvPr id="13" name="Text 11"/>
          <p:cNvSpPr txBox="1"/>
          <p:nvPr/>
        </p:nvSpPr>
        <p:spPr>
          <a:xfrm>
            <a:off x="3611880" y="3474720"/>
            <a:ext cx="228600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Research Analytics</a:t>
            </a:r>
            <a:endParaRPr lang="en-US" sz="1600" dirty="0"/>
          </a:p>
        </p:txBody>
      </p:sp>
      <p:sp>
        <p:nvSpPr>
          <p:cNvPr id="14" name="Text 12"/>
          <p:cNvSpPr txBox="1"/>
          <p:nvPr/>
        </p:nvSpPr>
        <p:spPr>
          <a:xfrm>
            <a:off x="3611880" y="4251960"/>
            <a:ext cx="2286000" cy="1463040"/>
          </a:xfrm>
          <a:prstGeom prst="rect">
            <a:avLst/>
          </a:prstGeom>
          <a:noFill/>
          <a:ln/>
        </p:spPr>
        <p:txBody>
          <a:bodyPr wrap="square" lIns="0" tIns="0" rIns="0" bIns="0" rtlCol="0" anchor="ctr"/>
          <a:lstStyle/>
          <a:p>
            <a:pPr algn="ctr" indent="0" marL="0">
              <a:lnSpc>
                <a:spcPct val="125000"/>
              </a:lnSpc>
              <a:buNone/>
            </a:pPr>
            <a:r>
              <a:rPr lang="en-US" sz="1250" dirty="0">
                <a:solidFill>
                  <a:srgbClr val="5B6B8C"/>
                </a:solidFill>
                <a:latin typeface="Calibri" pitchFamily="34" charset="0"/>
                <a:ea typeface="Calibri" pitchFamily="34" charset="-122"/>
                <a:cs typeface="Calibri" pitchFamily="34" charset="-120"/>
              </a:rPr>
              <a:t>How much universities publish, how often they are cited, and their research reputation.</a:t>
            </a:r>
            <a:endParaRPr lang="en-US" sz="1250" dirty="0"/>
          </a:p>
        </p:txBody>
      </p:sp>
      <p:sp>
        <p:nvSpPr>
          <p:cNvPr id="15" name="Shape 13"/>
          <p:cNvSpPr/>
          <p:nvPr/>
        </p:nvSpPr>
        <p:spPr>
          <a:xfrm>
            <a:off x="6309360" y="2286000"/>
            <a:ext cx="2651760" cy="3566160"/>
          </a:xfrm>
          <a:prstGeom prst="roundRect">
            <a:avLst>
              <a:gd name="adj" fmla="val 3448"/>
            </a:avLst>
          </a:prstGeom>
          <a:solidFill>
            <a:srgbClr val="F4F7FE"/>
          </a:solidFill>
          <a:ln/>
        </p:spPr>
      </p:sp>
      <p:sp>
        <p:nvSpPr>
          <p:cNvPr id="16" name="Shape 14"/>
          <p:cNvSpPr/>
          <p:nvPr/>
        </p:nvSpPr>
        <p:spPr>
          <a:xfrm>
            <a:off x="7315200" y="2606040"/>
            <a:ext cx="640080" cy="640080"/>
          </a:xfrm>
          <a:prstGeom prst="ellipse">
            <a:avLst/>
          </a:prstGeom>
          <a:solidFill>
            <a:srgbClr val="F2A93B"/>
          </a:solidFill>
          <a:ln/>
        </p:spPr>
      </p:sp>
      <p:sp>
        <p:nvSpPr>
          <p:cNvPr id="17" name="Text 15"/>
          <p:cNvSpPr txBox="1"/>
          <p:nvPr/>
        </p:nvSpPr>
        <p:spPr>
          <a:xfrm>
            <a:off x="7315200" y="2606040"/>
            <a:ext cx="640080" cy="640080"/>
          </a:xfrm>
          <a:prstGeom prst="rect">
            <a:avLst/>
          </a:prstGeom>
          <a:noFill/>
          <a:ln/>
        </p:spPr>
        <p:txBody>
          <a:bodyPr wrap="square" lIns="0" tIns="0" rIns="0" bIns="0"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6492240" y="3474720"/>
            <a:ext cx="228600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Student Analytics</a:t>
            </a:r>
            <a:endParaRPr lang="en-US" sz="1600" dirty="0"/>
          </a:p>
        </p:txBody>
      </p:sp>
      <p:sp>
        <p:nvSpPr>
          <p:cNvPr id="19" name="Text 17"/>
          <p:cNvSpPr txBox="1"/>
          <p:nvPr/>
        </p:nvSpPr>
        <p:spPr>
          <a:xfrm>
            <a:off x="6492240" y="4251960"/>
            <a:ext cx="2286000" cy="1463040"/>
          </a:xfrm>
          <a:prstGeom prst="rect">
            <a:avLst/>
          </a:prstGeom>
          <a:noFill/>
          <a:ln/>
        </p:spPr>
        <p:txBody>
          <a:bodyPr wrap="square" lIns="0" tIns="0" rIns="0" bIns="0" rtlCol="0" anchor="ctr"/>
          <a:lstStyle/>
          <a:p>
            <a:pPr algn="ctr" indent="0" marL="0">
              <a:lnSpc>
                <a:spcPct val="125000"/>
              </a:lnSpc>
              <a:buNone/>
            </a:pPr>
            <a:r>
              <a:rPr lang="en-US" sz="1250" dirty="0">
                <a:solidFill>
                  <a:srgbClr val="5B6B8C"/>
                </a:solidFill>
                <a:latin typeface="Calibri" pitchFamily="34" charset="0"/>
                <a:ea typeface="Calibri" pitchFamily="34" charset="-122"/>
                <a:cs typeface="Calibri" pitchFamily="34" charset="-120"/>
              </a:rPr>
              <a:t>Student numbers, faculty-to-student ratios, and international student trends.</a:t>
            </a:r>
            <a:endParaRPr lang="en-US" sz="1250" dirty="0"/>
          </a:p>
        </p:txBody>
      </p:sp>
      <p:sp>
        <p:nvSpPr>
          <p:cNvPr id="20" name="Shape 18"/>
          <p:cNvSpPr/>
          <p:nvPr/>
        </p:nvSpPr>
        <p:spPr>
          <a:xfrm>
            <a:off x="9189720" y="2286000"/>
            <a:ext cx="2651760" cy="3566160"/>
          </a:xfrm>
          <a:prstGeom prst="roundRect">
            <a:avLst>
              <a:gd name="adj" fmla="val 3448"/>
            </a:avLst>
          </a:prstGeom>
          <a:solidFill>
            <a:srgbClr val="F4F7FE"/>
          </a:solidFill>
          <a:ln/>
        </p:spPr>
      </p:sp>
      <p:sp>
        <p:nvSpPr>
          <p:cNvPr id="21" name="Shape 19"/>
          <p:cNvSpPr/>
          <p:nvPr/>
        </p:nvSpPr>
        <p:spPr>
          <a:xfrm>
            <a:off x="10195560" y="2606040"/>
            <a:ext cx="640080" cy="640080"/>
          </a:xfrm>
          <a:prstGeom prst="ellipse">
            <a:avLst/>
          </a:prstGeom>
          <a:solidFill>
            <a:srgbClr val="F2A93B"/>
          </a:solidFill>
          <a:ln/>
        </p:spPr>
      </p:sp>
      <p:sp>
        <p:nvSpPr>
          <p:cNvPr id="22" name="Text 20"/>
          <p:cNvSpPr txBox="1"/>
          <p:nvPr/>
        </p:nvSpPr>
        <p:spPr>
          <a:xfrm>
            <a:off x="10195560" y="2606040"/>
            <a:ext cx="640080" cy="640080"/>
          </a:xfrm>
          <a:prstGeom prst="rect">
            <a:avLst/>
          </a:prstGeom>
          <a:noFill/>
          <a:ln/>
        </p:spPr>
        <p:txBody>
          <a:bodyPr wrap="square" lIns="0" tIns="0" rIns="0" bIns="0"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D</a:t>
            </a:r>
            <a:endParaRPr lang="en-US" sz="2400" dirty="0"/>
          </a:p>
        </p:txBody>
      </p:sp>
      <p:sp>
        <p:nvSpPr>
          <p:cNvPr id="23" name="Text 21"/>
          <p:cNvSpPr txBox="1"/>
          <p:nvPr/>
        </p:nvSpPr>
        <p:spPr>
          <a:xfrm>
            <a:off x="9372600" y="3474720"/>
            <a:ext cx="2286000" cy="73152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Country Comparison</a:t>
            </a:r>
            <a:endParaRPr lang="en-US" sz="1600" dirty="0"/>
          </a:p>
        </p:txBody>
      </p:sp>
      <p:sp>
        <p:nvSpPr>
          <p:cNvPr id="24" name="Text 22"/>
          <p:cNvSpPr txBox="1"/>
          <p:nvPr/>
        </p:nvSpPr>
        <p:spPr>
          <a:xfrm>
            <a:off x="9372600" y="4251960"/>
            <a:ext cx="2286000" cy="1463040"/>
          </a:xfrm>
          <a:prstGeom prst="rect">
            <a:avLst/>
          </a:prstGeom>
          <a:noFill/>
          <a:ln/>
        </p:spPr>
        <p:txBody>
          <a:bodyPr wrap="square" lIns="0" tIns="0" rIns="0" bIns="0" rtlCol="0" anchor="ctr"/>
          <a:lstStyle/>
          <a:p>
            <a:pPr algn="ctr" indent="0" marL="0">
              <a:lnSpc>
                <a:spcPct val="125000"/>
              </a:lnSpc>
              <a:buNone/>
            </a:pPr>
            <a:r>
              <a:rPr lang="en-US" sz="1250" dirty="0">
                <a:solidFill>
                  <a:srgbClr val="5B6B8C"/>
                </a:solidFill>
                <a:latin typeface="Calibri" pitchFamily="34" charset="0"/>
                <a:ea typeface="Calibri" pitchFamily="34" charset="-122"/>
                <a:cs typeface="Calibri" pitchFamily="34" charset="-120"/>
              </a:rPr>
              <a:t>How countries and regions stack up against each other in education performance.</a:t>
            </a:r>
            <a:endParaRPr lang="en-US" sz="1250" dirty="0"/>
          </a:p>
        </p:txBody>
      </p:sp>
      <p:sp>
        <p:nvSpPr>
          <p:cNvPr id="25" name="Text 2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26" name="Text 2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INTERACTIVITY</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users explore the data</a:t>
            </a:r>
            <a:endParaRPr lang="en-US" sz="3200" dirty="0"/>
          </a:p>
        </p:txBody>
      </p:sp>
      <p:sp>
        <p:nvSpPr>
          <p:cNvPr id="4" name="Text 2"/>
          <p:cNvSpPr txBox="1"/>
          <p:nvPr/>
        </p:nvSpPr>
        <p:spPr>
          <a:xfrm>
            <a:off x="548640" y="1508760"/>
            <a:ext cx="5120640" cy="1463040"/>
          </a:xfrm>
          <a:prstGeom prst="rect">
            <a:avLst/>
          </a:prstGeom>
          <a:noFill/>
          <a:ln/>
        </p:spPr>
        <p:txBody>
          <a:bodyPr wrap="square" lIns="0" tIns="0" rIns="0" bIns="0" rtlCol="0" anchor="ctr"/>
          <a:lstStyle/>
          <a:p>
            <a:pPr indent="0" marL="0">
              <a:lnSpc>
                <a:spcPct val="135000"/>
              </a:lnSpc>
              <a:buNone/>
            </a:pPr>
            <a:r>
              <a:rPr lang="en-US" sz="1500" dirty="0">
                <a:solidFill>
                  <a:srgbClr val="1E2761"/>
                </a:solidFill>
                <a:latin typeface="Calibri" pitchFamily="34" charset="0"/>
                <a:ea typeface="Calibri" pitchFamily="34" charset="-122"/>
                <a:cs typeface="Calibri" pitchFamily="34" charset="-120"/>
              </a:rPr>
              <a:t>On the left side of every tab, the dashboard gives users simple filters. This means anyone can focus on exactly what they care about, without needing to know how to use Tableau.</a:t>
            </a:r>
            <a:endParaRPr lang="en-US" sz="1500" dirty="0"/>
          </a:p>
        </p:txBody>
      </p:sp>
      <p:sp>
        <p:nvSpPr>
          <p:cNvPr id="5" name="Shape 3"/>
          <p:cNvSpPr/>
          <p:nvPr/>
        </p:nvSpPr>
        <p:spPr>
          <a:xfrm>
            <a:off x="548640" y="3063240"/>
            <a:ext cx="5120640" cy="548640"/>
          </a:xfrm>
          <a:prstGeom prst="roundRect">
            <a:avLst>
              <a:gd name="adj" fmla="val 13333"/>
            </a:avLst>
          </a:prstGeom>
          <a:solidFill>
            <a:srgbClr val="F4F7FE"/>
          </a:solidFill>
          <a:ln/>
        </p:spPr>
      </p:sp>
      <p:sp>
        <p:nvSpPr>
          <p:cNvPr id="6" name="Shape 4"/>
          <p:cNvSpPr/>
          <p:nvPr/>
        </p:nvSpPr>
        <p:spPr>
          <a:xfrm>
            <a:off x="685800" y="3154680"/>
            <a:ext cx="365760" cy="365760"/>
          </a:xfrm>
          <a:prstGeom prst="ellipse">
            <a:avLst/>
          </a:prstGeom>
          <a:solidFill>
            <a:srgbClr val="CADCFC"/>
          </a:solidFill>
          <a:ln/>
        </p:spPr>
      </p:sp>
      <p:sp>
        <p:nvSpPr>
          <p:cNvPr id="7" name="Text 5"/>
          <p:cNvSpPr txBox="1"/>
          <p:nvPr/>
        </p:nvSpPr>
        <p:spPr>
          <a:xfrm>
            <a:off x="685800" y="3154680"/>
            <a:ext cx="36576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234440" y="3063240"/>
            <a:ext cx="4297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Country</a:t>
            </a:r>
            <a:endParaRPr lang="en-US" sz="1400" dirty="0"/>
          </a:p>
        </p:txBody>
      </p:sp>
      <p:sp>
        <p:nvSpPr>
          <p:cNvPr id="9" name="Shape 7"/>
          <p:cNvSpPr/>
          <p:nvPr/>
        </p:nvSpPr>
        <p:spPr>
          <a:xfrm>
            <a:off x="548640" y="3721608"/>
            <a:ext cx="5120640" cy="548640"/>
          </a:xfrm>
          <a:prstGeom prst="roundRect">
            <a:avLst>
              <a:gd name="adj" fmla="val 13333"/>
            </a:avLst>
          </a:prstGeom>
          <a:solidFill>
            <a:srgbClr val="F4F7FE"/>
          </a:solidFill>
          <a:ln/>
        </p:spPr>
      </p:sp>
      <p:sp>
        <p:nvSpPr>
          <p:cNvPr id="10" name="Shape 8"/>
          <p:cNvSpPr/>
          <p:nvPr/>
        </p:nvSpPr>
        <p:spPr>
          <a:xfrm>
            <a:off x="685800" y="3813048"/>
            <a:ext cx="365760" cy="365760"/>
          </a:xfrm>
          <a:prstGeom prst="ellipse">
            <a:avLst/>
          </a:prstGeom>
          <a:solidFill>
            <a:srgbClr val="CADCFC"/>
          </a:solidFill>
          <a:ln/>
        </p:spPr>
      </p:sp>
      <p:sp>
        <p:nvSpPr>
          <p:cNvPr id="11" name="Text 9"/>
          <p:cNvSpPr txBox="1"/>
          <p:nvPr/>
        </p:nvSpPr>
        <p:spPr>
          <a:xfrm>
            <a:off x="685800" y="3813048"/>
            <a:ext cx="36576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234440" y="3721608"/>
            <a:ext cx="4297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Region</a:t>
            </a:r>
            <a:endParaRPr lang="en-US" sz="1400" dirty="0"/>
          </a:p>
        </p:txBody>
      </p:sp>
      <p:sp>
        <p:nvSpPr>
          <p:cNvPr id="13" name="Shape 11"/>
          <p:cNvSpPr/>
          <p:nvPr/>
        </p:nvSpPr>
        <p:spPr>
          <a:xfrm>
            <a:off x="548640" y="4379976"/>
            <a:ext cx="5120640" cy="548640"/>
          </a:xfrm>
          <a:prstGeom prst="roundRect">
            <a:avLst>
              <a:gd name="adj" fmla="val 13333"/>
            </a:avLst>
          </a:prstGeom>
          <a:solidFill>
            <a:srgbClr val="F4F7FE"/>
          </a:solidFill>
          <a:ln/>
        </p:spPr>
      </p:sp>
      <p:sp>
        <p:nvSpPr>
          <p:cNvPr id="14" name="Shape 12"/>
          <p:cNvSpPr/>
          <p:nvPr/>
        </p:nvSpPr>
        <p:spPr>
          <a:xfrm>
            <a:off x="685800" y="4471416"/>
            <a:ext cx="365760" cy="365760"/>
          </a:xfrm>
          <a:prstGeom prst="ellipse">
            <a:avLst/>
          </a:prstGeom>
          <a:solidFill>
            <a:srgbClr val="CADCFC"/>
          </a:solidFill>
          <a:ln/>
        </p:spPr>
      </p:sp>
      <p:sp>
        <p:nvSpPr>
          <p:cNvPr id="15" name="Text 13"/>
          <p:cNvSpPr txBox="1"/>
          <p:nvPr/>
        </p:nvSpPr>
        <p:spPr>
          <a:xfrm>
            <a:off x="685800" y="4471416"/>
            <a:ext cx="36576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1234440" y="4379976"/>
            <a:ext cx="4297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Universities</a:t>
            </a:r>
            <a:endParaRPr lang="en-US" sz="1400" dirty="0"/>
          </a:p>
        </p:txBody>
      </p:sp>
      <p:sp>
        <p:nvSpPr>
          <p:cNvPr id="17" name="Shape 15"/>
          <p:cNvSpPr/>
          <p:nvPr/>
        </p:nvSpPr>
        <p:spPr>
          <a:xfrm>
            <a:off x="548640" y="5038344"/>
            <a:ext cx="5120640" cy="548640"/>
          </a:xfrm>
          <a:prstGeom prst="roundRect">
            <a:avLst>
              <a:gd name="adj" fmla="val 13333"/>
            </a:avLst>
          </a:prstGeom>
          <a:solidFill>
            <a:srgbClr val="F4F7FE"/>
          </a:solidFill>
          <a:ln/>
        </p:spPr>
      </p:sp>
      <p:sp>
        <p:nvSpPr>
          <p:cNvPr id="18" name="Shape 16"/>
          <p:cNvSpPr/>
          <p:nvPr/>
        </p:nvSpPr>
        <p:spPr>
          <a:xfrm>
            <a:off x="685800" y="5129784"/>
            <a:ext cx="365760" cy="365760"/>
          </a:xfrm>
          <a:prstGeom prst="ellipse">
            <a:avLst/>
          </a:prstGeom>
          <a:solidFill>
            <a:srgbClr val="CADCFC"/>
          </a:solidFill>
          <a:ln/>
        </p:spPr>
      </p:sp>
      <p:sp>
        <p:nvSpPr>
          <p:cNvPr id="19" name="Text 17"/>
          <p:cNvSpPr txBox="1"/>
          <p:nvPr/>
        </p:nvSpPr>
        <p:spPr>
          <a:xfrm>
            <a:off x="685800" y="5129784"/>
            <a:ext cx="36576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4</a:t>
            </a:r>
            <a:endParaRPr lang="en-US" sz="1400" dirty="0"/>
          </a:p>
        </p:txBody>
      </p:sp>
      <p:sp>
        <p:nvSpPr>
          <p:cNvPr id="20" name="Text 18"/>
          <p:cNvSpPr txBox="1"/>
          <p:nvPr/>
        </p:nvSpPr>
        <p:spPr>
          <a:xfrm>
            <a:off x="1234440" y="5038344"/>
            <a:ext cx="4297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Subjects</a:t>
            </a:r>
            <a:endParaRPr lang="en-US" sz="1400" dirty="0"/>
          </a:p>
        </p:txBody>
      </p:sp>
      <p:sp>
        <p:nvSpPr>
          <p:cNvPr id="21" name="Shape 19"/>
          <p:cNvSpPr/>
          <p:nvPr/>
        </p:nvSpPr>
        <p:spPr>
          <a:xfrm>
            <a:off x="548640" y="5696712"/>
            <a:ext cx="5120640" cy="548640"/>
          </a:xfrm>
          <a:prstGeom prst="roundRect">
            <a:avLst>
              <a:gd name="adj" fmla="val 13333"/>
            </a:avLst>
          </a:prstGeom>
          <a:solidFill>
            <a:srgbClr val="F4F7FE"/>
          </a:solidFill>
          <a:ln/>
        </p:spPr>
      </p:sp>
      <p:sp>
        <p:nvSpPr>
          <p:cNvPr id="22" name="Shape 20"/>
          <p:cNvSpPr/>
          <p:nvPr/>
        </p:nvSpPr>
        <p:spPr>
          <a:xfrm>
            <a:off x="685800" y="5788152"/>
            <a:ext cx="365760" cy="365760"/>
          </a:xfrm>
          <a:prstGeom prst="ellipse">
            <a:avLst/>
          </a:prstGeom>
          <a:solidFill>
            <a:srgbClr val="F2A93B"/>
          </a:solidFill>
          <a:ln/>
        </p:spPr>
      </p:sp>
      <p:sp>
        <p:nvSpPr>
          <p:cNvPr id="23" name="Text 21"/>
          <p:cNvSpPr txBox="1"/>
          <p:nvPr/>
        </p:nvSpPr>
        <p:spPr>
          <a:xfrm>
            <a:off x="685800" y="5788152"/>
            <a:ext cx="36576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5</a:t>
            </a:r>
            <a:endParaRPr lang="en-US" sz="1400" dirty="0"/>
          </a:p>
        </p:txBody>
      </p:sp>
      <p:sp>
        <p:nvSpPr>
          <p:cNvPr id="24" name="Text 22"/>
          <p:cNvSpPr txBox="1"/>
          <p:nvPr/>
        </p:nvSpPr>
        <p:spPr>
          <a:xfrm>
            <a:off x="1234440" y="5696712"/>
            <a:ext cx="4297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Reset button</a:t>
            </a:r>
            <a:endParaRPr lang="en-US" sz="1400" dirty="0"/>
          </a:p>
        </p:txBody>
      </p:sp>
      <p:sp>
        <p:nvSpPr>
          <p:cNvPr id="25" name="Shape 23"/>
          <p:cNvSpPr/>
          <p:nvPr/>
        </p:nvSpPr>
        <p:spPr>
          <a:xfrm>
            <a:off x="6126480" y="1508760"/>
            <a:ext cx="5486400" cy="4663440"/>
          </a:xfrm>
          <a:prstGeom prst="roundRect">
            <a:avLst>
              <a:gd name="adj" fmla="val 1961"/>
            </a:avLst>
          </a:prstGeom>
          <a:solidFill>
            <a:srgbClr val="1E2761"/>
          </a:solidFill>
          <a:ln/>
        </p:spPr>
      </p:sp>
      <p:sp>
        <p:nvSpPr>
          <p:cNvPr id="26" name="Text 24"/>
          <p:cNvSpPr txBox="1"/>
          <p:nvPr/>
        </p:nvSpPr>
        <p:spPr>
          <a:xfrm>
            <a:off x="6400800" y="1783080"/>
            <a:ext cx="493776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Why this matters</a:t>
            </a:r>
            <a:endParaRPr lang="en-US" sz="1800" dirty="0"/>
          </a:p>
        </p:txBody>
      </p:sp>
      <p:sp>
        <p:nvSpPr>
          <p:cNvPr id="27" name="Shape 25"/>
          <p:cNvSpPr/>
          <p:nvPr/>
        </p:nvSpPr>
        <p:spPr>
          <a:xfrm>
            <a:off x="6400800" y="2468880"/>
            <a:ext cx="109728" cy="109728"/>
          </a:xfrm>
          <a:prstGeom prst="ellipse">
            <a:avLst/>
          </a:prstGeom>
          <a:solidFill>
            <a:srgbClr val="F2A93B"/>
          </a:solidFill>
          <a:ln/>
        </p:spPr>
      </p:sp>
      <p:sp>
        <p:nvSpPr>
          <p:cNvPr id="28" name="Text 26"/>
          <p:cNvSpPr txBox="1"/>
          <p:nvPr/>
        </p:nvSpPr>
        <p:spPr>
          <a:xfrm>
            <a:off x="6675120" y="2304288"/>
            <a:ext cx="4709160" cy="548640"/>
          </a:xfrm>
          <a:prstGeom prst="rect">
            <a:avLst/>
          </a:prstGeom>
          <a:noFill/>
          <a:ln/>
        </p:spPr>
        <p:txBody>
          <a:bodyPr wrap="square" lIns="0" tIns="0" rIns="0" bIns="0" rtlCol="0" anchor="ctr"/>
          <a:lstStyle/>
          <a:p>
            <a:pPr indent="0" marL="0">
              <a:lnSpc>
                <a:spcPct val="120000"/>
              </a:lnSpc>
              <a:buNone/>
            </a:pPr>
            <a:r>
              <a:rPr lang="en-US" sz="1400" dirty="0">
                <a:solidFill>
                  <a:srgbClr val="CADCFC"/>
                </a:solidFill>
                <a:latin typeface="Calibri" pitchFamily="34" charset="0"/>
                <a:ea typeface="Calibri" pitchFamily="34" charset="-122"/>
                <a:cs typeface="Calibri" pitchFamily="34" charset="-120"/>
              </a:rPr>
              <a:t>A student can filter to just their target country.</a:t>
            </a:r>
            <a:endParaRPr lang="en-US" sz="1400" dirty="0"/>
          </a:p>
        </p:txBody>
      </p:sp>
      <p:sp>
        <p:nvSpPr>
          <p:cNvPr id="29" name="Shape 27"/>
          <p:cNvSpPr/>
          <p:nvPr/>
        </p:nvSpPr>
        <p:spPr>
          <a:xfrm>
            <a:off x="6400800" y="3246120"/>
            <a:ext cx="109728" cy="109728"/>
          </a:xfrm>
          <a:prstGeom prst="ellipse">
            <a:avLst/>
          </a:prstGeom>
          <a:solidFill>
            <a:srgbClr val="F2A93B"/>
          </a:solidFill>
          <a:ln/>
        </p:spPr>
      </p:sp>
      <p:sp>
        <p:nvSpPr>
          <p:cNvPr id="30" name="Text 28"/>
          <p:cNvSpPr txBox="1"/>
          <p:nvPr/>
        </p:nvSpPr>
        <p:spPr>
          <a:xfrm>
            <a:off x="6675120" y="3081528"/>
            <a:ext cx="4709160" cy="548640"/>
          </a:xfrm>
          <a:prstGeom prst="rect">
            <a:avLst/>
          </a:prstGeom>
          <a:noFill/>
          <a:ln/>
        </p:spPr>
        <p:txBody>
          <a:bodyPr wrap="square" lIns="0" tIns="0" rIns="0" bIns="0" rtlCol="0" anchor="ctr"/>
          <a:lstStyle/>
          <a:p>
            <a:pPr indent="0" marL="0">
              <a:lnSpc>
                <a:spcPct val="120000"/>
              </a:lnSpc>
              <a:buNone/>
            </a:pPr>
            <a:r>
              <a:rPr lang="en-US" sz="1400" dirty="0">
                <a:solidFill>
                  <a:srgbClr val="CADCFC"/>
                </a:solidFill>
                <a:latin typeface="Calibri" pitchFamily="34" charset="0"/>
                <a:ea typeface="Calibri" pitchFamily="34" charset="-122"/>
                <a:cs typeface="Calibri" pitchFamily="34" charset="-120"/>
              </a:rPr>
              <a:t>A researcher can look only at their subject area.</a:t>
            </a:r>
            <a:endParaRPr lang="en-US" sz="1400" dirty="0"/>
          </a:p>
        </p:txBody>
      </p:sp>
      <p:sp>
        <p:nvSpPr>
          <p:cNvPr id="31" name="Shape 29"/>
          <p:cNvSpPr/>
          <p:nvPr/>
        </p:nvSpPr>
        <p:spPr>
          <a:xfrm>
            <a:off x="6400800" y="4023360"/>
            <a:ext cx="109728" cy="109728"/>
          </a:xfrm>
          <a:prstGeom prst="ellipse">
            <a:avLst/>
          </a:prstGeom>
          <a:solidFill>
            <a:srgbClr val="F2A93B"/>
          </a:solidFill>
          <a:ln/>
        </p:spPr>
      </p:sp>
      <p:sp>
        <p:nvSpPr>
          <p:cNvPr id="32" name="Text 30"/>
          <p:cNvSpPr txBox="1"/>
          <p:nvPr/>
        </p:nvSpPr>
        <p:spPr>
          <a:xfrm>
            <a:off x="6675120" y="3858768"/>
            <a:ext cx="4709160" cy="548640"/>
          </a:xfrm>
          <a:prstGeom prst="rect">
            <a:avLst/>
          </a:prstGeom>
          <a:noFill/>
          <a:ln/>
        </p:spPr>
        <p:txBody>
          <a:bodyPr wrap="square" lIns="0" tIns="0" rIns="0" bIns="0" rtlCol="0" anchor="ctr"/>
          <a:lstStyle/>
          <a:p>
            <a:pPr indent="0" marL="0">
              <a:lnSpc>
                <a:spcPct val="120000"/>
              </a:lnSpc>
              <a:buNone/>
            </a:pPr>
            <a:r>
              <a:rPr lang="en-US" sz="1400" dirty="0">
                <a:solidFill>
                  <a:srgbClr val="CADCFC"/>
                </a:solidFill>
                <a:latin typeface="Calibri" pitchFamily="34" charset="0"/>
                <a:ea typeface="Calibri" pitchFamily="34" charset="-122"/>
                <a:cs typeface="Calibri" pitchFamily="34" charset="-120"/>
              </a:rPr>
              <a:t>A university leader can compare against similar schools.</a:t>
            </a:r>
            <a:endParaRPr lang="en-US" sz="1400" dirty="0"/>
          </a:p>
        </p:txBody>
      </p:sp>
      <p:sp>
        <p:nvSpPr>
          <p:cNvPr id="33" name="Shape 31"/>
          <p:cNvSpPr/>
          <p:nvPr/>
        </p:nvSpPr>
        <p:spPr>
          <a:xfrm>
            <a:off x="6400800" y="4800600"/>
            <a:ext cx="109728" cy="109728"/>
          </a:xfrm>
          <a:prstGeom prst="ellipse">
            <a:avLst/>
          </a:prstGeom>
          <a:solidFill>
            <a:srgbClr val="F2A93B"/>
          </a:solidFill>
          <a:ln/>
        </p:spPr>
      </p:sp>
      <p:sp>
        <p:nvSpPr>
          <p:cNvPr id="34" name="Text 32"/>
          <p:cNvSpPr txBox="1"/>
          <p:nvPr/>
        </p:nvSpPr>
        <p:spPr>
          <a:xfrm>
            <a:off x="6675120" y="4636008"/>
            <a:ext cx="4709160" cy="548640"/>
          </a:xfrm>
          <a:prstGeom prst="rect">
            <a:avLst/>
          </a:prstGeom>
          <a:noFill/>
          <a:ln/>
        </p:spPr>
        <p:txBody>
          <a:bodyPr wrap="square" lIns="0" tIns="0" rIns="0" bIns="0" rtlCol="0" anchor="ctr"/>
          <a:lstStyle/>
          <a:p>
            <a:pPr indent="0" marL="0">
              <a:lnSpc>
                <a:spcPct val="120000"/>
              </a:lnSpc>
              <a:buNone/>
            </a:pPr>
            <a:r>
              <a:rPr lang="en-US" sz="1400" dirty="0">
                <a:solidFill>
                  <a:srgbClr val="CADCFC"/>
                </a:solidFill>
                <a:latin typeface="Calibri" pitchFamily="34" charset="0"/>
                <a:ea typeface="Calibri" pitchFamily="34" charset="-122"/>
                <a:cs typeface="Calibri" pitchFamily="34" charset="-120"/>
              </a:rPr>
              <a:t>The Reset button always brings back the full picture.</a:t>
            </a:r>
            <a:endParaRPr lang="en-US" sz="1400" dirty="0"/>
          </a:p>
        </p:txBody>
      </p:sp>
      <p:sp>
        <p:nvSpPr>
          <p:cNvPr id="35" name="Text 3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36" name="Text 3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SECTION A</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University Overview — key numbers</a:t>
            </a:r>
            <a:endParaRPr lang="en-US" sz="3200" dirty="0"/>
          </a:p>
        </p:txBody>
      </p:sp>
      <p:sp>
        <p:nvSpPr>
          <p:cNvPr id="4" name="Text 2"/>
          <p:cNvSpPr txBox="1"/>
          <p:nvPr/>
        </p:nvSpPr>
        <p:spPr>
          <a:xfrm>
            <a:off x="548640" y="1417320"/>
            <a:ext cx="10058400" cy="457200"/>
          </a:xfrm>
          <a:prstGeom prst="rect">
            <a:avLst/>
          </a:prstGeom>
          <a:noFill/>
          <a:ln/>
        </p:spPr>
        <p:txBody>
          <a:bodyPr wrap="square" lIns="0" tIns="0" rIns="0" bIns="0" rtlCol="0" anchor="ctr"/>
          <a:lstStyle/>
          <a:p>
            <a:pPr indent="0" marL="0">
              <a:buNone/>
            </a:pPr>
            <a:r>
              <a:rPr lang="en-US" sz="1500" dirty="0">
                <a:solidFill>
                  <a:srgbClr val="5B6B8C"/>
                </a:solidFill>
                <a:latin typeface="Calibri" pitchFamily="34" charset="0"/>
                <a:ea typeface="Calibri" pitchFamily="34" charset="-122"/>
                <a:cs typeface="Calibri" pitchFamily="34" charset="-120"/>
              </a:rPr>
              <a:t>This tab gives a first look at the world of universities covered by the dashboard.</a:t>
            </a:r>
            <a:endParaRPr lang="en-US" sz="1500" dirty="0"/>
          </a:p>
        </p:txBody>
      </p:sp>
      <p:sp>
        <p:nvSpPr>
          <p:cNvPr id="5" name="Shape 3"/>
          <p:cNvSpPr/>
          <p:nvPr/>
        </p:nvSpPr>
        <p:spPr>
          <a:xfrm>
            <a:off x="548640" y="219456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6" name="Text 4"/>
          <p:cNvSpPr txBox="1"/>
          <p:nvPr/>
        </p:nvSpPr>
        <p:spPr>
          <a:xfrm>
            <a:off x="640080" y="235915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23.93</a:t>
            </a:r>
            <a:endParaRPr lang="en-US" sz="3000" dirty="0"/>
          </a:p>
        </p:txBody>
      </p:sp>
      <p:sp>
        <p:nvSpPr>
          <p:cNvPr id="7" name="Text 5"/>
          <p:cNvSpPr txBox="1"/>
          <p:nvPr/>
        </p:nvSpPr>
        <p:spPr>
          <a:xfrm>
            <a:off x="640080" y="349849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Average Overall Score</a:t>
            </a:r>
            <a:endParaRPr lang="en-US" sz="1300" dirty="0"/>
          </a:p>
        </p:txBody>
      </p:sp>
      <p:sp>
        <p:nvSpPr>
          <p:cNvPr id="8" name="Shape 6"/>
          <p:cNvSpPr/>
          <p:nvPr/>
        </p:nvSpPr>
        <p:spPr>
          <a:xfrm>
            <a:off x="1650492" y="4242816"/>
            <a:ext cx="402336" cy="45720"/>
          </a:xfrm>
          <a:prstGeom prst="rect">
            <a:avLst/>
          </a:prstGeom>
          <a:solidFill>
            <a:srgbClr val="F2A93B"/>
          </a:solidFill>
          <a:ln/>
        </p:spPr>
      </p:sp>
      <p:sp>
        <p:nvSpPr>
          <p:cNvPr id="9" name="Shape 7"/>
          <p:cNvSpPr/>
          <p:nvPr/>
        </p:nvSpPr>
        <p:spPr>
          <a:xfrm>
            <a:off x="3383280" y="219456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0" name="Text 8"/>
          <p:cNvSpPr txBox="1"/>
          <p:nvPr/>
        </p:nvSpPr>
        <p:spPr>
          <a:xfrm>
            <a:off x="3474720" y="235915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3,403</a:t>
            </a:r>
            <a:endParaRPr lang="en-US" sz="3000" dirty="0"/>
          </a:p>
        </p:txBody>
      </p:sp>
      <p:sp>
        <p:nvSpPr>
          <p:cNvPr id="11" name="Text 9"/>
          <p:cNvSpPr txBox="1"/>
          <p:nvPr/>
        </p:nvSpPr>
        <p:spPr>
          <a:xfrm>
            <a:off x="3474720" y="349849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Total Universities</a:t>
            </a:r>
            <a:endParaRPr lang="en-US" sz="1300" dirty="0"/>
          </a:p>
        </p:txBody>
      </p:sp>
      <p:sp>
        <p:nvSpPr>
          <p:cNvPr id="12" name="Shape 10"/>
          <p:cNvSpPr/>
          <p:nvPr/>
        </p:nvSpPr>
        <p:spPr>
          <a:xfrm>
            <a:off x="4485132" y="4242816"/>
            <a:ext cx="402336" cy="45720"/>
          </a:xfrm>
          <a:prstGeom prst="rect">
            <a:avLst/>
          </a:prstGeom>
          <a:solidFill>
            <a:srgbClr val="F2A93B"/>
          </a:solidFill>
          <a:ln/>
        </p:spPr>
      </p:sp>
      <p:sp>
        <p:nvSpPr>
          <p:cNvPr id="13" name="Shape 11"/>
          <p:cNvSpPr/>
          <p:nvPr/>
        </p:nvSpPr>
        <p:spPr>
          <a:xfrm>
            <a:off x="6217920" y="219456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4" name="Text 12"/>
          <p:cNvSpPr txBox="1"/>
          <p:nvPr/>
        </p:nvSpPr>
        <p:spPr>
          <a:xfrm>
            <a:off x="6309360" y="235915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105</a:t>
            </a:r>
            <a:endParaRPr lang="en-US" sz="3000" dirty="0"/>
          </a:p>
        </p:txBody>
      </p:sp>
      <p:sp>
        <p:nvSpPr>
          <p:cNvPr id="15" name="Text 13"/>
          <p:cNvSpPr txBox="1"/>
          <p:nvPr/>
        </p:nvSpPr>
        <p:spPr>
          <a:xfrm>
            <a:off x="6309360" y="349849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Total Countries</a:t>
            </a:r>
            <a:endParaRPr lang="en-US" sz="1300" dirty="0"/>
          </a:p>
        </p:txBody>
      </p:sp>
      <p:sp>
        <p:nvSpPr>
          <p:cNvPr id="16" name="Shape 14"/>
          <p:cNvSpPr/>
          <p:nvPr/>
        </p:nvSpPr>
        <p:spPr>
          <a:xfrm>
            <a:off x="7319772" y="4242816"/>
            <a:ext cx="402336" cy="45720"/>
          </a:xfrm>
          <a:prstGeom prst="rect">
            <a:avLst/>
          </a:prstGeom>
          <a:solidFill>
            <a:srgbClr val="F2A93B"/>
          </a:solidFill>
          <a:ln/>
        </p:spPr>
      </p:sp>
      <p:sp>
        <p:nvSpPr>
          <p:cNvPr id="17" name="Shape 15"/>
          <p:cNvSpPr/>
          <p:nvPr/>
        </p:nvSpPr>
        <p:spPr>
          <a:xfrm>
            <a:off x="9052560" y="219456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8" name="Text 16"/>
          <p:cNvSpPr txBox="1"/>
          <p:nvPr/>
        </p:nvSpPr>
        <p:spPr>
          <a:xfrm>
            <a:off x="9144000" y="235915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5</a:t>
            </a:r>
            <a:endParaRPr lang="en-US" sz="3000" dirty="0"/>
          </a:p>
        </p:txBody>
      </p:sp>
      <p:sp>
        <p:nvSpPr>
          <p:cNvPr id="19" name="Text 17"/>
          <p:cNvSpPr txBox="1"/>
          <p:nvPr/>
        </p:nvSpPr>
        <p:spPr>
          <a:xfrm>
            <a:off x="9144000" y="349849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Regions Covered</a:t>
            </a:r>
            <a:endParaRPr lang="en-US" sz="1300" dirty="0"/>
          </a:p>
        </p:txBody>
      </p:sp>
      <p:sp>
        <p:nvSpPr>
          <p:cNvPr id="20" name="Shape 18"/>
          <p:cNvSpPr/>
          <p:nvPr/>
        </p:nvSpPr>
        <p:spPr>
          <a:xfrm>
            <a:off x="10154412" y="4242816"/>
            <a:ext cx="402336" cy="45720"/>
          </a:xfrm>
          <a:prstGeom prst="rect">
            <a:avLst/>
          </a:prstGeom>
          <a:solidFill>
            <a:srgbClr val="F2A93B"/>
          </a:solidFill>
          <a:ln/>
        </p:spPr>
      </p:sp>
      <p:sp>
        <p:nvSpPr>
          <p:cNvPr id="21" name="Text 19"/>
          <p:cNvSpPr txBox="1"/>
          <p:nvPr/>
        </p:nvSpPr>
        <p:spPr>
          <a:xfrm>
            <a:off x="548640" y="4663440"/>
            <a:ext cx="10515600" cy="1280160"/>
          </a:xfrm>
          <a:prstGeom prst="rect">
            <a:avLst/>
          </a:prstGeom>
          <a:noFill/>
          <a:ln/>
        </p:spPr>
        <p:txBody>
          <a:bodyPr wrap="square" lIns="0" tIns="0" rIns="0" bIns="0" rtlCol="0" anchor="ctr"/>
          <a:lstStyle/>
          <a:p>
            <a:pPr indent="0" marL="0">
              <a:lnSpc>
                <a:spcPct val="135000"/>
              </a:lnSpc>
              <a:buNone/>
            </a:pPr>
            <a:r>
              <a:rPr lang="en-US" sz="1450" dirty="0">
                <a:solidFill>
                  <a:srgbClr val="1E2761"/>
                </a:solidFill>
                <a:latin typeface="Calibri" pitchFamily="34" charset="0"/>
                <a:ea typeface="Calibri" pitchFamily="34" charset="-122"/>
                <a:cs typeface="Calibri" pitchFamily="34" charset="-120"/>
              </a:rPr>
              <a:t>These four cards sit at the top of the University Overview tab. They tell us straight away how large and how spread out the dataset is, before we look at any single university.</a:t>
            </a:r>
            <a:endParaRPr lang="en-US" sz="1450" dirty="0"/>
          </a:p>
        </p:txBody>
      </p:sp>
      <p:sp>
        <p:nvSpPr>
          <p:cNvPr id="22" name="Text 2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23"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SECTION A</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Which universities lead the way?</a:t>
            </a:r>
            <a:endParaRPr lang="en-US" sz="3200" dirty="0"/>
          </a:p>
        </p:txBody>
      </p:sp>
      <p:sp>
        <p:nvSpPr>
          <p:cNvPr id="4" name="Text 2"/>
          <p:cNvSpPr txBox="1"/>
          <p:nvPr/>
        </p:nvSpPr>
        <p:spPr>
          <a:xfrm>
            <a:off x="548640" y="1417320"/>
            <a:ext cx="5760720" cy="365760"/>
          </a:xfrm>
          <a:prstGeom prst="rect">
            <a:avLst/>
          </a:prstGeom>
          <a:noFill/>
          <a:ln/>
        </p:spPr>
        <p:txBody>
          <a:bodyPr wrap="square" lIns="0" tIns="0" rIns="0" bIns="0" rtlCol="0" anchor="ctr"/>
          <a:lstStyle/>
          <a:p>
            <a:pPr indent="0" marL="0">
              <a:buNone/>
            </a:pPr>
            <a:r>
              <a:rPr lang="en-US" sz="1300" b="1" dirty="0">
                <a:solidFill>
                  <a:srgbClr val="5B6B8C"/>
                </a:solidFill>
                <a:latin typeface="Calibri" pitchFamily="34" charset="0"/>
                <a:ea typeface="Calibri" pitchFamily="34" charset="-122"/>
                <a:cs typeface="Calibri" pitchFamily="34" charset="-120"/>
              </a:rPr>
              <a:t>Top University leaderboard (by ranking shown in the dashboard)</a:t>
            </a:r>
            <a:endParaRPr lang="en-US" sz="1300" dirty="0"/>
          </a:p>
        </p:txBody>
      </p:sp>
      <p:sp>
        <p:nvSpPr>
          <p:cNvPr id="5" name="Shape 3"/>
          <p:cNvSpPr/>
          <p:nvPr/>
        </p:nvSpPr>
        <p:spPr>
          <a:xfrm>
            <a:off x="548640" y="1874520"/>
            <a:ext cx="5760720" cy="603504"/>
          </a:xfrm>
          <a:prstGeom prst="roundRect">
            <a:avLst>
              <a:gd name="adj" fmla="val 9091"/>
            </a:avLst>
          </a:prstGeom>
          <a:solidFill>
            <a:srgbClr val="F4F7FE"/>
          </a:solidFill>
          <a:ln w="12700">
            <a:solidFill>
              <a:srgbClr val="E2E8F7"/>
            </a:solidFill>
            <a:prstDash val="solid"/>
          </a:ln>
        </p:spPr>
      </p:sp>
      <p:sp>
        <p:nvSpPr>
          <p:cNvPr id="6" name="Shape 4"/>
          <p:cNvSpPr/>
          <p:nvPr/>
        </p:nvSpPr>
        <p:spPr>
          <a:xfrm>
            <a:off x="676656" y="1975104"/>
            <a:ext cx="402336" cy="402336"/>
          </a:xfrm>
          <a:prstGeom prst="ellipse">
            <a:avLst/>
          </a:prstGeom>
          <a:solidFill>
            <a:srgbClr val="F2A93B"/>
          </a:solidFill>
          <a:ln/>
        </p:spPr>
      </p:sp>
      <p:sp>
        <p:nvSpPr>
          <p:cNvPr id="7" name="Text 5"/>
          <p:cNvSpPr txBox="1"/>
          <p:nvPr/>
        </p:nvSpPr>
        <p:spPr>
          <a:xfrm>
            <a:off x="676656" y="1975104"/>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225296" y="1874520"/>
            <a:ext cx="3383280" cy="60350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University of Oxford</a:t>
            </a:r>
            <a:endParaRPr lang="en-US" sz="1500" dirty="0"/>
          </a:p>
        </p:txBody>
      </p:sp>
      <p:sp>
        <p:nvSpPr>
          <p:cNvPr id="9" name="Shape 7"/>
          <p:cNvSpPr/>
          <p:nvPr/>
        </p:nvSpPr>
        <p:spPr>
          <a:xfrm>
            <a:off x="548640" y="2587752"/>
            <a:ext cx="5760720" cy="603504"/>
          </a:xfrm>
          <a:prstGeom prst="roundRect">
            <a:avLst>
              <a:gd name="adj" fmla="val 9091"/>
            </a:avLst>
          </a:prstGeom>
          <a:solidFill>
            <a:srgbClr val="FFFFFF"/>
          </a:solidFill>
          <a:ln w="12700">
            <a:solidFill>
              <a:srgbClr val="E2E8F7"/>
            </a:solidFill>
            <a:prstDash val="solid"/>
          </a:ln>
        </p:spPr>
      </p:sp>
      <p:sp>
        <p:nvSpPr>
          <p:cNvPr id="10" name="Shape 8"/>
          <p:cNvSpPr/>
          <p:nvPr/>
        </p:nvSpPr>
        <p:spPr>
          <a:xfrm>
            <a:off x="676656" y="2688336"/>
            <a:ext cx="402336" cy="402336"/>
          </a:xfrm>
          <a:prstGeom prst="ellipse">
            <a:avLst/>
          </a:prstGeom>
          <a:solidFill>
            <a:srgbClr val="F2A93B"/>
          </a:solidFill>
          <a:ln/>
        </p:spPr>
      </p:sp>
      <p:sp>
        <p:nvSpPr>
          <p:cNvPr id="11" name="Text 9"/>
          <p:cNvSpPr txBox="1"/>
          <p:nvPr/>
        </p:nvSpPr>
        <p:spPr>
          <a:xfrm>
            <a:off x="676656" y="2688336"/>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225296" y="2587752"/>
            <a:ext cx="3383280" cy="60350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University of Cambridge</a:t>
            </a:r>
            <a:endParaRPr lang="en-US" sz="1500" dirty="0"/>
          </a:p>
        </p:txBody>
      </p:sp>
      <p:sp>
        <p:nvSpPr>
          <p:cNvPr id="13" name="Shape 11"/>
          <p:cNvSpPr/>
          <p:nvPr/>
        </p:nvSpPr>
        <p:spPr>
          <a:xfrm>
            <a:off x="548640" y="3300984"/>
            <a:ext cx="5760720" cy="603504"/>
          </a:xfrm>
          <a:prstGeom prst="roundRect">
            <a:avLst>
              <a:gd name="adj" fmla="val 9091"/>
            </a:avLst>
          </a:prstGeom>
          <a:solidFill>
            <a:srgbClr val="F4F7FE"/>
          </a:solidFill>
          <a:ln w="12700">
            <a:solidFill>
              <a:srgbClr val="E2E8F7"/>
            </a:solidFill>
            <a:prstDash val="solid"/>
          </a:ln>
        </p:spPr>
      </p:sp>
      <p:sp>
        <p:nvSpPr>
          <p:cNvPr id="14" name="Shape 12"/>
          <p:cNvSpPr/>
          <p:nvPr/>
        </p:nvSpPr>
        <p:spPr>
          <a:xfrm>
            <a:off x="676656" y="3401568"/>
            <a:ext cx="402336" cy="402336"/>
          </a:xfrm>
          <a:prstGeom prst="ellipse">
            <a:avLst/>
          </a:prstGeom>
          <a:solidFill>
            <a:srgbClr val="F2A93B"/>
          </a:solidFill>
          <a:ln/>
        </p:spPr>
      </p:sp>
      <p:sp>
        <p:nvSpPr>
          <p:cNvPr id="15" name="Text 13"/>
          <p:cNvSpPr txBox="1"/>
          <p:nvPr/>
        </p:nvSpPr>
        <p:spPr>
          <a:xfrm>
            <a:off x="676656" y="340156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225296" y="3300984"/>
            <a:ext cx="3383280" cy="60350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University of California (Berkeley)</a:t>
            </a:r>
            <a:endParaRPr lang="en-US" sz="1500" dirty="0"/>
          </a:p>
        </p:txBody>
      </p:sp>
      <p:sp>
        <p:nvSpPr>
          <p:cNvPr id="17" name="Shape 15"/>
          <p:cNvSpPr/>
          <p:nvPr/>
        </p:nvSpPr>
        <p:spPr>
          <a:xfrm>
            <a:off x="548640" y="4014216"/>
            <a:ext cx="5760720" cy="603504"/>
          </a:xfrm>
          <a:prstGeom prst="roundRect">
            <a:avLst>
              <a:gd name="adj" fmla="val 9091"/>
            </a:avLst>
          </a:prstGeom>
          <a:solidFill>
            <a:srgbClr val="FFFFFF"/>
          </a:solidFill>
          <a:ln w="12700">
            <a:solidFill>
              <a:srgbClr val="E2E8F7"/>
            </a:solidFill>
            <a:prstDash val="solid"/>
          </a:ln>
        </p:spPr>
      </p:sp>
      <p:sp>
        <p:nvSpPr>
          <p:cNvPr id="18" name="Shape 16"/>
          <p:cNvSpPr/>
          <p:nvPr/>
        </p:nvSpPr>
        <p:spPr>
          <a:xfrm>
            <a:off x="676656" y="4114800"/>
            <a:ext cx="402336" cy="402336"/>
          </a:xfrm>
          <a:prstGeom prst="ellipse">
            <a:avLst/>
          </a:prstGeom>
          <a:solidFill>
            <a:srgbClr val="CADCFC"/>
          </a:solidFill>
          <a:ln/>
        </p:spPr>
      </p:sp>
      <p:sp>
        <p:nvSpPr>
          <p:cNvPr id="19" name="Text 17"/>
          <p:cNvSpPr txBox="1"/>
          <p:nvPr/>
        </p:nvSpPr>
        <p:spPr>
          <a:xfrm>
            <a:off x="676656" y="4114800"/>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4</a:t>
            </a:r>
            <a:endParaRPr lang="en-US" sz="1600" dirty="0"/>
          </a:p>
        </p:txBody>
      </p:sp>
      <p:sp>
        <p:nvSpPr>
          <p:cNvPr id="20" name="Text 18"/>
          <p:cNvSpPr txBox="1"/>
          <p:nvPr/>
        </p:nvSpPr>
        <p:spPr>
          <a:xfrm>
            <a:off x="1225296" y="4014216"/>
            <a:ext cx="3383280" cy="60350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Stanford University</a:t>
            </a:r>
            <a:endParaRPr lang="en-US" sz="1500" dirty="0"/>
          </a:p>
        </p:txBody>
      </p:sp>
      <p:sp>
        <p:nvSpPr>
          <p:cNvPr id="21" name="Shape 19"/>
          <p:cNvSpPr/>
          <p:nvPr/>
        </p:nvSpPr>
        <p:spPr>
          <a:xfrm>
            <a:off x="548640" y="4727448"/>
            <a:ext cx="5760720" cy="603504"/>
          </a:xfrm>
          <a:prstGeom prst="roundRect">
            <a:avLst>
              <a:gd name="adj" fmla="val 9091"/>
            </a:avLst>
          </a:prstGeom>
          <a:solidFill>
            <a:srgbClr val="F4F7FE"/>
          </a:solidFill>
          <a:ln w="12700">
            <a:solidFill>
              <a:srgbClr val="E2E8F7"/>
            </a:solidFill>
            <a:prstDash val="solid"/>
          </a:ln>
        </p:spPr>
      </p:sp>
      <p:sp>
        <p:nvSpPr>
          <p:cNvPr id="22" name="Shape 20"/>
          <p:cNvSpPr/>
          <p:nvPr/>
        </p:nvSpPr>
        <p:spPr>
          <a:xfrm>
            <a:off x="676656" y="4828032"/>
            <a:ext cx="402336" cy="402336"/>
          </a:xfrm>
          <a:prstGeom prst="ellipse">
            <a:avLst/>
          </a:prstGeom>
          <a:solidFill>
            <a:srgbClr val="CADCFC"/>
          </a:solidFill>
          <a:ln/>
        </p:spPr>
      </p:sp>
      <p:sp>
        <p:nvSpPr>
          <p:cNvPr id="23" name="Text 21"/>
          <p:cNvSpPr txBox="1"/>
          <p:nvPr/>
        </p:nvSpPr>
        <p:spPr>
          <a:xfrm>
            <a:off x="676656" y="4828032"/>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5</a:t>
            </a:r>
            <a:endParaRPr lang="en-US" sz="1600" dirty="0"/>
          </a:p>
        </p:txBody>
      </p:sp>
      <p:sp>
        <p:nvSpPr>
          <p:cNvPr id="24" name="Text 22"/>
          <p:cNvSpPr txBox="1"/>
          <p:nvPr/>
        </p:nvSpPr>
        <p:spPr>
          <a:xfrm>
            <a:off x="1225296" y="4727448"/>
            <a:ext cx="3383280" cy="60350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Harvard University</a:t>
            </a:r>
            <a:endParaRPr lang="en-US" sz="1500" dirty="0"/>
          </a:p>
        </p:txBody>
      </p:sp>
      <p:sp>
        <p:nvSpPr>
          <p:cNvPr id="25" name="Shape 23"/>
          <p:cNvSpPr/>
          <p:nvPr/>
        </p:nvSpPr>
        <p:spPr>
          <a:xfrm>
            <a:off x="548640" y="5440680"/>
            <a:ext cx="5760720" cy="603504"/>
          </a:xfrm>
          <a:prstGeom prst="roundRect">
            <a:avLst>
              <a:gd name="adj" fmla="val 9091"/>
            </a:avLst>
          </a:prstGeom>
          <a:solidFill>
            <a:srgbClr val="FFFFFF"/>
          </a:solidFill>
          <a:ln w="12700">
            <a:solidFill>
              <a:srgbClr val="E2E8F7"/>
            </a:solidFill>
            <a:prstDash val="solid"/>
          </a:ln>
        </p:spPr>
      </p:sp>
      <p:sp>
        <p:nvSpPr>
          <p:cNvPr id="26" name="Shape 24"/>
          <p:cNvSpPr/>
          <p:nvPr/>
        </p:nvSpPr>
        <p:spPr>
          <a:xfrm>
            <a:off x="676656" y="5541264"/>
            <a:ext cx="402336" cy="402336"/>
          </a:xfrm>
          <a:prstGeom prst="ellipse">
            <a:avLst/>
          </a:prstGeom>
          <a:solidFill>
            <a:srgbClr val="CADCFC"/>
          </a:solidFill>
          <a:ln/>
        </p:spPr>
      </p:sp>
      <p:sp>
        <p:nvSpPr>
          <p:cNvPr id="27" name="Text 25"/>
          <p:cNvSpPr txBox="1"/>
          <p:nvPr/>
        </p:nvSpPr>
        <p:spPr>
          <a:xfrm>
            <a:off x="676656" y="5541264"/>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6</a:t>
            </a:r>
            <a:endParaRPr lang="en-US" sz="1600" dirty="0"/>
          </a:p>
        </p:txBody>
      </p:sp>
      <p:sp>
        <p:nvSpPr>
          <p:cNvPr id="28" name="Text 26"/>
          <p:cNvSpPr txBox="1"/>
          <p:nvPr/>
        </p:nvSpPr>
        <p:spPr>
          <a:xfrm>
            <a:off x="1225296" y="5440680"/>
            <a:ext cx="3383280" cy="60350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Yale University</a:t>
            </a:r>
            <a:endParaRPr lang="en-US" sz="1500" dirty="0"/>
          </a:p>
        </p:txBody>
      </p:sp>
      <p:sp>
        <p:nvSpPr>
          <p:cNvPr id="29" name="Shape 27"/>
          <p:cNvSpPr/>
          <p:nvPr/>
        </p:nvSpPr>
        <p:spPr>
          <a:xfrm>
            <a:off x="6766560" y="1417320"/>
            <a:ext cx="4846320" cy="4709160"/>
          </a:xfrm>
          <a:prstGeom prst="roundRect">
            <a:avLst>
              <a:gd name="adj" fmla="val 1942"/>
            </a:avLst>
          </a:prstGeom>
          <a:solidFill>
            <a:srgbClr val="F4F7FE"/>
          </a:solidFill>
          <a:ln/>
        </p:spPr>
      </p:sp>
      <p:sp>
        <p:nvSpPr>
          <p:cNvPr id="30" name="Text 28"/>
          <p:cNvSpPr txBox="1"/>
          <p:nvPr/>
        </p:nvSpPr>
        <p:spPr>
          <a:xfrm>
            <a:off x="7040880" y="1645920"/>
            <a:ext cx="429768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Universities around the globe</a:t>
            </a:r>
            <a:endParaRPr lang="en-US" sz="1600" dirty="0"/>
          </a:p>
        </p:txBody>
      </p:sp>
      <p:sp>
        <p:nvSpPr>
          <p:cNvPr id="31" name="Text 29"/>
          <p:cNvSpPr txBox="1"/>
          <p:nvPr/>
        </p:nvSpPr>
        <p:spPr>
          <a:xfrm>
            <a:off x="7040880" y="2148840"/>
            <a:ext cx="4297680" cy="1371600"/>
          </a:xfrm>
          <a:prstGeom prst="rect">
            <a:avLst/>
          </a:prstGeom>
          <a:noFill/>
          <a:ln/>
        </p:spPr>
        <p:txBody>
          <a:bodyPr wrap="square" lIns="0" tIns="0" rIns="0" bIns="0" rtlCol="0" anchor="ctr"/>
          <a:lstStyle/>
          <a:p>
            <a:pPr indent="0" marL="0">
              <a:lnSpc>
                <a:spcPct val="130000"/>
              </a:lnSpc>
              <a:buNone/>
            </a:pPr>
            <a:r>
              <a:rPr lang="en-US" sz="1350" dirty="0">
                <a:solidFill>
                  <a:srgbClr val="1E2761"/>
                </a:solidFill>
                <a:latin typeface="Calibri" pitchFamily="34" charset="0"/>
                <a:ea typeface="Calibri" pitchFamily="34" charset="-122"/>
                <a:cs typeface="Calibri" pitchFamily="34" charset="-120"/>
              </a:rPr>
              <a:t>A world map on this tab plots every university by location. Most dots cluster in Europe, North America, and East Asia, showing where higher-education activity is heaviest today.</a:t>
            </a:r>
            <a:endParaRPr lang="en-US" sz="1350" dirty="0"/>
          </a:p>
        </p:txBody>
      </p:sp>
      <p:sp>
        <p:nvSpPr>
          <p:cNvPr id="32" name="Shape 30"/>
          <p:cNvSpPr/>
          <p:nvPr/>
        </p:nvSpPr>
        <p:spPr>
          <a:xfrm>
            <a:off x="7040880" y="3657600"/>
            <a:ext cx="4297680" cy="0"/>
          </a:xfrm>
          <a:prstGeom prst="line">
            <a:avLst/>
          </a:prstGeom>
          <a:noFill/>
          <a:ln w="12700">
            <a:solidFill>
              <a:srgbClr val="D6DEF2"/>
            </a:solidFill>
            <a:prstDash val="solid"/>
          </a:ln>
        </p:spPr>
      </p:sp>
      <p:sp>
        <p:nvSpPr>
          <p:cNvPr id="33" name="Text 31"/>
          <p:cNvSpPr txBox="1"/>
          <p:nvPr/>
        </p:nvSpPr>
        <p:spPr>
          <a:xfrm>
            <a:off x="7040880" y="3840480"/>
            <a:ext cx="4297680" cy="1188720"/>
          </a:xfrm>
          <a:prstGeom prst="rect">
            <a:avLst/>
          </a:prstGeom>
          <a:noFill/>
          <a:ln/>
        </p:spPr>
        <p:txBody>
          <a:bodyPr wrap="square" lIns="0" tIns="0" rIns="0" bIns="0" rtlCol="0" anchor="ctr"/>
          <a:lstStyle/>
          <a:p>
            <a:pPr indent="0" marL="0">
              <a:lnSpc>
                <a:spcPct val="130000"/>
              </a:lnSpc>
              <a:buNone/>
            </a:pPr>
            <a:r>
              <a:rPr lang="en-US" sz="1350" dirty="0">
                <a:solidFill>
                  <a:srgbClr val="1E2761"/>
                </a:solidFill>
                <a:latin typeface="Calibri" pitchFamily="34" charset="0"/>
                <a:ea typeface="Calibri" pitchFamily="34" charset="-122"/>
                <a:cs typeface="Calibri" pitchFamily="34" charset="-120"/>
              </a:rPr>
              <a:t>A separate pie chart, the Institutional Comparison, breaks universities into groups so we can see the mix of institution types at a glance.</a:t>
            </a:r>
            <a:endParaRPr lang="en-US" sz="1350" dirty="0"/>
          </a:p>
        </p:txBody>
      </p:sp>
      <p:sp>
        <p:nvSpPr>
          <p:cNvPr id="34" name="Text 32"/>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35" name="Text 3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SECTION B</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Research Analytics — key numbers</a:t>
            </a:r>
            <a:endParaRPr lang="en-US" sz="3200" dirty="0"/>
          </a:p>
        </p:txBody>
      </p:sp>
      <p:sp>
        <p:nvSpPr>
          <p:cNvPr id="4" name="Text 2"/>
          <p:cNvSpPr txBox="1"/>
          <p:nvPr/>
        </p:nvSpPr>
        <p:spPr>
          <a:xfrm>
            <a:off x="548640" y="1417320"/>
            <a:ext cx="10058400" cy="548640"/>
          </a:xfrm>
          <a:prstGeom prst="rect">
            <a:avLst/>
          </a:prstGeom>
          <a:noFill/>
          <a:ln/>
        </p:spPr>
        <p:txBody>
          <a:bodyPr wrap="square" lIns="0" tIns="0" rIns="0" bIns="0" rtlCol="0" anchor="ctr"/>
          <a:lstStyle/>
          <a:p>
            <a:pPr indent="0" marL="0">
              <a:buNone/>
            </a:pPr>
            <a:r>
              <a:rPr lang="en-US" sz="1500" dirty="0">
                <a:solidFill>
                  <a:srgbClr val="5B6B8C"/>
                </a:solidFill>
                <a:latin typeface="Calibri" pitchFamily="34" charset="0"/>
                <a:ea typeface="Calibri" pitchFamily="34" charset="-122"/>
                <a:cs typeface="Calibri" pitchFamily="34" charset="-120"/>
              </a:rPr>
              <a:t>This tab measures how strong universities are at research: how much they publish and how often other researchers cite their work.</a:t>
            </a:r>
            <a:endParaRPr lang="en-US" sz="1500" dirty="0"/>
          </a:p>
        </p:txBody>
      </p:sp>
      <p:sp>
        <p:nvSpPr>
          <p:cNvPr id="5" name="Shape 3"/>
          <p:cNvSpPr/>
          <p:nvPr/>
        </p:nvSpPr>
        <p:spPr>
          <a:xfrm>
            <a:off x="548640" y="228600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6" name="Text 4"/>
          <p:cNvSpPr txBox="1"/>
          <p:nvPr/>
        </p:nvSpPr>
        <p:spPr>
          <a:xfrm>
            <a:off x="640080" y="245059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52.19</a:t>
            </a:r>
            <a:endParaRPr lang="en-US" sz="3000" dirty="0"/>
          </a:p>
        </p:txBody>
      </p:sp>
      <p:sp>
        <p:nvSpPr>
          <p:cNvPr id="7" name="Text 5"/>
          <p:cNvSpPr txBox="1"/>
          <p:nvPr/>
        </p:nvSpPr>
        <p:spPr>
          <a:xfrm>
            <a:off x="640080" y="358993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Avg. Citation Score</a:t>
            </a:r>
            <a:endParaRPr lang="en-US" sz="1300" dirty="0"/>
          </a:p>
        </p:txBody>
      </p:sp>
      <p:sp>
        <p:nvSpPr>
          <p:cNvPr id="8" name="Shape 6"/>
          <p:cNvSpPr/>
          <p:nvPr/>
        </p:nvSpPr>
        <p:spPr>
          <a:xfrm>
            <a:off x="1650492" y="4334256"/>
            <a:ext cx="402336" cy="45720"/>
          </a:xfrm>
          <a:prstGeom prst="rect">
            <a:avLst/>
          </a:prstGeom>
          <a:solidFill>
            <a:srgbClr val="F2A93B"/>
          </a:solidFill>
          <a:ln/>
        </p:spPr>
      </p:sp>
      <p:sp>
        <p:nvSpPr>
          <p:cNvPr id="9" name="Shape 7"/>
          <p:cNvSpPr/>
          <p:nvPr/>
        </p:nvSpPr>
        <p:spPr>
          <a:xfrm>
            <a:off x="3383280" y="228600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0" name="Text 8"/>
          <p:cNvSpPr txBox="1"/>
          <p:nvPr/>
        </p:nvSpPr>
        <p:spPr>
          <a:xfrm>
            <a:off x="3474720" y="245059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20.14</a:t>
            </a:r>
            <a:endParaRPr lang="en-US" sz="3000" dirty="0"/>
          </a:p>
        </p:txBody>
      </p:sp>
      <p:sp>
        <p:nvSpPr>
          <p:cNvPr id="11" name="Text 9"/>
          <p:cNvSpPr txBox="1"/>
          <p:nvPr/>
        </p:nvSpPr>
        <p:spPr>
          <a:xfrm>
            <a:off x="3474720" y="358993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Avg. Academic Reputation Score</a:t>
            </a:r>
            <a:endParaRPr lang="en-US" sz="1300" dirty="0"/>
          </a:p>
        </p:txBody>
      </p:sp>
      <p:sp>
        <p:nvSpPr>
          <p:cNvPr id="12" name="Shape 10"/>
          <p:cNvSpPr/>
          <p:nvPr/>
        </p:nvSpPr>
        <p:spPr>
          <a:xfrm>
            <a:off x="4485132" y="4334256"/>
            <a:ext cx="402336" cy="45720"/>
          </a:xfrm>
          <a:prstGeom prst="rect">
            <a:avLst/>
          </a:prstGeom>
          <a:solidFill>
            <a:srgbClr val="F2A93B"/>
          </a:solidFill>
          <a:ln/>
        </p:spPr>
      </p:sp>
      <p:sp>
        <p:nvSpPr>
          <p:cNvPr id="13" name="Shape 11"/>
          <p:cNvSpPr/>
          <p:nvPr/>
        </p:nvSpPr>
        <p:spPr>
          <a:xfrm>
            <a:off x="6217920" y="228600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4" name="Text 12"/>
          <p:cNvSpPr txBox="1"/>
          <p:nvPr/>
        </p:nvSpPr>
        <p:spPr>
          <a:xfrm>
            <a:off x="6309360" y="245059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23.42</a:t>
            </a:r>
            <a:endParaRPr lang="en-US" sz="3000" dirty="0"/>
          </a:p>
        </p:txBody>
      </p:sp>
      <p:sp>
        <p:nvSpPr>
          <p:cNvPr id="15" name="Text 13"/>
          <p:cNvSpPr txBox="1"/>
          <p:nvPr/>
        </p:nvSpPr>
        <p:spPr>
          <a:xfrm>
            <a:off x="6309360" y="358993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Research Score</a:t>
            </a:r>
            <a:endParaRPr lang="en-US" sz="1300" dirty="0"/>
          </a:p>
        </p:txBody>
      </p:sp>
      <p:sp>
        <p:nvSpPr>
          <p:cNvPr id="16" name="Shape 14"/>
          <p:cNvSpPr/>
          <p:nvPr/>
        </p:nvSpPr>
        <p:spPr>
          <a:xfrm>
            <a:off x="7319772" y="4334256"/>
            <a:ext cx="402336" cy="45720"/>
          </a:xfrm>
          <a:prstGeom prst="rect">
            <a:avLst/>
          </a:prstGeom>
          <a:solidFill>
            <a:srgbClr val="F2A93B"/>
          </a:solidFill>
          <a:ln/>
        </p:spPr>
      </p:sp>
      <p:sp>
        <p:nvSpPr>
          <p:cNvPr id="17" name="Shape 15"/>
          <p:cNvSpPr/>
          <p:nvPr/>
        </p:nvSpPr>
        <p:spPr>
          <a:xfrm>
            <a:off x="9052560" y="228600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8" name="Text 16"/>
          <p:cNvSpPr txBox="1"/>
          <p:nvPr/>
        </p:nvSpPr>
        <p:spPr>
          <a:xfrm>
            <a:off x="9144000" y="245059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678.5</a:t>
            </a:r>
            <a:endParaRPr lang="en-US" sz="3000" dirty="0"/>
          </a:p>
        </p:txBody>
      </p:sp>
      <p:sp>
        <p:nvSpPr>
          <p:cNvPr id="19" name="Text 17"/>
          <p:cNvSpPr txBox="1"/>
          <p:nvPr/>
        </p:nvSpPr>
        <p:spPr>
          <a:xfrm>
            <a:off x="9144000" y="358993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Score of Research Rank</a:t>
            </a:r>
            <a:endParaRPr lang="en-US" sz="1300" dirty="0"/>
          </a:p>
        </p:txBody>
      </p:sp>
      <p:sp>
        <p:nvSpPr>
          <p:cNvPr id="20" name="Shape 18"/>
          <p:cNvSpPr/>
          <p:nvPr/>
        </p:nvSpPr>
        <p:spPr>
          <a:xfrm>
            <a:off x="10154412" y="4334256"/>
            <a:ext cx="402336" cy="45720"/>
          </a:xfrm>
          <a:prstGeom prst="rect">
            <a:avLst/>
          </a:prstGeom>
          <a:solidFill>
            <a:srgbClr val="F2A93B"/>
          </a:solidFill>
          <a:ln/>
        </p:spPr>
      </p:sp>
      <p:sp>
        <p:nvSpPr>
          <p:cNvPr id="21" name="Text 19"/>
          <p:cNvSpPr txBox="1"/>
          <p:nvPr/>
        </p:nvSpPr>
        <p:spPr>
          <a:xfrm>
            <a:off x="548640" y="4754880"/>
            <a:ext cx="10515600" cy="1097280"/>
          </a:xfrm>
          <a:prstGeom prst="rect">
            <a:avLst/>
          </a:prstGeom>
          <a:noFill/>
          <a:ln/>
        </p:spPr>
        <p:txBody>
          <a:bodyPr wrap="square" lIns="0" tIns="0" rIns="0" bIns="0" rtlCol="0" anchor="ctr"/>
          <a:lstStyle/>
          <a:p>
            <a:pPr indent="0" marL="0">
              <a:lnSpc>
                <a:spcPct val="135000"/>
              </a:lnSpc>
              <a:buNone/>
            </a:pPr>
            <a:r>
              <a:rPr lang="en-US" sz="1450" dirty="0">
                <a:solidFill>
                  <a:srgbClr val="1E2761"/>
                </a:solidFill>
                <a:latin typeface="Calibri" pitchFamily="34" charset="0"/>
                <a:ea typeface="Calibri" pitchFamily="34" charset="-122"/>
                <a:cs typeface="Calibri" pitchFamily="34" charset="-120"/>
              </a:rPr>
              <a:t>The Citation Score is the highest of the four — a sign that, on average, published research from these universities is being read and referenced widely.</a:t>
            </a:r>
            <a:endParaRPr lang="en-US" sz="1450" dirty="0"/>
          </a:p>
        </p:txBody>
      </p:sp>
      <p:sp>
        <p:nvSpPr>
          <p:cNvPr id="22" name="Text 2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23"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SECTION B</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Top research institutions</a:t>
            </a:r>
            <a:endParaRPr lang="en-US" sz="3200" dirty="0"/>
          </a:p>
        </p:txBody>
      </p:sp>
      <p:sp>
        <p:nvSpPr>
          <p:cNvPr id="4" name="Text 2"/>
          <p:cNvSpPr txBox="1"/>
          <p:nvPr/>
        </p:nvSpPr>
        <p:spPr>
          <a:xfrm>
            <a:off x="548640" y="1417320"/>
            <a:ext cx="7315200" cy="365760"/>
          </a:xfrm>
          <a:prstGeom prst="rect">
            <a:avLst/>
          </a:prstGeom>
          <a:noFill/>
          <a:ln/>
        </p:spPr>
        <p:txBody>
          <a:bodyPr wrap="square" lIns="0" tIns="0" rIns="0" bIns="0" rtlCol="0" anchor="ctr"/>
          <a:lstStyle/>
          <a:p>
            <a:pPr indent="0" marL="0">
              <a:buNone/>
            </a:pPr>
            <a:r>
              <a:rPr lang="en-US" sz="1300" b="1" dirty="0">
                <a:solidFill>
                  <a:srgbClr val="5B6B8C"/>
                </a:solidFill>
                <a:latin typeface="Calibri" pitchFamily="34" charset="0"/>
                <a:ea typeface="Calibri" pitchFamily="34" charset="-122"/>
                <a:cs typeface="Calibri" pitchFamily="34" charset="-120"/>
              </a:rPr>
              <a:t>Universities leading in research output and impact</a:t>
            </a:r>
            <a:endParaRPr lang="en-US" sz="1300" dirty="0"/>
          </a:p>
        </p:txBody>
      </p:sp>
      <p:sp>
        <p:nvSpPr>
          <p:cNvPr id="5" name="Shape 3"/>
          <p:cNvSpPr/>
          <p:nvPr/>
        </p:nvSpPr>
        <p:spPr>
          <a:xfrm>
            <a:off x="548640" y="1874520"/>
            <a:ext cx="7315200" cy="493776"/>
          </a:xfrm>
          <a:prstGeom prst="roundRect">
            <a:avLst>
              <a:gd name="adj" fmla="val 11111"/>
            </a:avLst>
          </a:prstGeom>
          <a:solidFill>
            <a:srgbClr val="F4F7FE"/>
          </a:solidFill>
          <a:ln w="12700">
            <a:solidFill>
              <a:srgbClr val="E2E8F7"/>
            </a:solidFill>
            <a:prstDash val="solid"/>
          </a:ln>
        </p:spPr>
      </p:sp>
      <p:sp>
        <p:nvSpPr>
          <p:cNvPr id="6" name="Shape 4"/>
          <p:cNvSpPr/>
          <p:nvPr/>
        </p:nvSpPr>
        <p:spPr>
          <a:xfrm>
            <a:off x="676656" y="1920240"/>
            <a:ext cx="402336" cy="402336"/>
          </a:xfrm>
          <a:prstGeom prst="ellipse">
            <a:avLst/>
          </a:prstGeom>
          <a:solidFill>
            <a:srgbClr val="F2A93B"/>
          </a:solidFill>
          <a:ln/>
        </p:spPr>
      </p:sp>
      <p:sp>
        <p:nvSpPr>
          <p:cNvPr id="7" name="Text 5"/>
          <p:cNvSpPr txBox="1"/>
          <p:nvPr/>
        </p:nvSpPr>
        <p:spPr>
          <a:xfrm>
            <a:off x="676656" y="1920240"/>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225296" y="1874520"/>
            <a:ext cx="4937760" cy="4937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Massachusetts Institute of Technology (MIT)</a:t>
            </a:r>
            <a:endParaRPr lang="en-US" sz="1500" dirty="0"/>
          </a:p>
        </p:txBody>
      </p:sp>
      <p:sp>
        <p:nvSpPr>
          <p:cNvPr id="9" name="Shape 7"/>
          <p:cNvSpPr/>
          <p:nvPr/>
        </p:nvSpPr>
        <p:spPr>
          <a:xfrm>
            <a:off x="548640" y="2478024"/>
            <a:ext cx="7315200" cy="493776"/>
          </a:xfrm>
          <a:prstGeom prst="roundRect">
            <a:avLst>
              <a:gd name="adj" fmla="val 11111"/>
            </a:avLst>
          </a:prstGeom>
          <a:solidFill>
            <a:srgbClr val="FFFFFF"/>
          </a:solidFill>
          <a:ln w="12700">
            <a:solidFill>
              <a:srgbClr val="E2E8F7"/>
            </a:solidFill>
            <a:prstDash val="solid"/>
          </a:ln>
        </p:spPr>
      </p:sp>
      <p:sp>
        <p:nvSpPr>
          <p:cNvPr id="10" name="Shape 8"/>
          <p:cNvSpPr/>
          <p:nvPr/>
        </p:nvSpPr>
        <p:spPr>
          <a:xfrm>
            <a:off x="676656" y="2523744"/>
            <a:ext cx="402336" cy="402336"/>
          </a:xfrm>
          <a:prstGeom prst="ellipse">
            <a:avLst/>
          </a:prstGeom>
          <a:solidFill>
            <a:srgbClr val="F2A93B"/>
          </a:solidFill>
          <a:ln/>
        </p:spPr>
      </p:sp>
      <p:sp>
        <p:nvSpPr>
          <p:cNvPr id="11" name="Text 9"/>
          <p:cNvSpPr txBox="1"/>
          <p:nvPr/>
        </p:nvSpPr>
        <p:spPr>
          <a:xfrm>
            <a:off x="676656" y="2523744"/>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225296" y="2478024"/>
            <a:ext cx="4937760" cy="4937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Stanford University</a:t>
            </a:r>
            <a:endParaRPr lang="en-US" sz="1500" dirty="0"/>
          </a:p>
        </p:txBody>
      </p:sp>
      <p:sp>
        <p:nvSpPr>
          <p:cNvPr id="13" name="Shape 11"/>
          <p:cNvSpPr/>
          <p:nvPr/>
        </p:nvSpPr>
        <p:spPr>
          <a:xfrm>
            <a:off x="548640" y="3081528"/>
            <a:ext cx="7315200" cy="493776"/>
          </a:xfrm>
          <a:prstGeom prst="roundRect">
            <a:avLst>
              <a:gd name="adj" fmla="val 11111"/>
            </a:avLst>
          </a:prstGeom>
          <a:solidFill>
            <a:srgbClr val="F4F7FE"/>
          </a:solidFill>
          <a:ln w="12700">
            <a:solidFill>
              <a:srgbClr val="E2E8F7"/>
            </a:solidFill>
            <a:prstDash val="solid"/>
          </a:ln>
        </p:spPr>
      </p:sp>
      <p:sp>
        <p:nvSpPr>
          <p:cNvPr id="14" name="Shape 12"/>
          <p:cNvSpPr/>
          <p:nvPr/>
        </p:nvSpPr>
        <p:spPr>
          <a:xfrm>
            <a:off x="676656" y="3127248"/>
            <a:ext cx="402336" cy="402336"/>
          </a:xfrm>
          <a:prstGeom prst="ellipse">
            <a:avLst/>
          </a:prstGeom>
          <a:solidFill>
            <a:srgbClr val="F2A93B"/>
          </a:solidFill>
          <a:ln/>
        </p:spPr>
      </p:sp>
      <p:sp>
        <p:nvSpPr>
          <p:cNvPr id="15" name="Text 13"/>
          <p:cNvSpPr txBox="1"/>
          <p:nvPr/>
        </p:nvSpPr>
        <p:spPr>
          <a:xfrm>
            <a:off x="676656" y="312724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225296" y="3081528"/>
            <a:ext cx="4937760" cy="4937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Harvard University</a:t>
            </a:r>
            <a:endParaRPr lang="en-US" sz="1500" dirty="0"/>
          </a:p>
        </p:txBody>
      </p:sp>
      <p:sp>
        <p:nvSpPr>
          <p:cNvPr id="17" name="Shape 15"/>
          <p:cNvSpPr/>
          <p:nvPr/>
        </p:nvSpPr>
        <p:spPr>
          <a:xfrm>
            <a:off x="548640" y="3685032"/>
            <a:ext cx="7315200" cy="493776"/>
          </a:xfrm>
          <a:prstGeom prst="roundRect">
            <a:avLst>
              <a:gd name="adj" fmla="val 11111"/>
            </a:avLst>
          </a:prstGeom>
          <a:solidFill>
            <a:srgbClr val="FFFFFF"/>
          </a:solidFill>
          <a:ln w="12700">
            <a:solidFill>
              <a:srgbClr val="E2E8F7"/>
            </a:solidFill>
            <a:prstDash val="solid"/>
          </a:ln>
        </p:spPr>
      </p:sp>
      <p:sp>
        <p:nvSpPr>
          <p:cNvPr id="18" name="Shape 16"/>
          <p:cNvSpPr/>
          <p:nvPr/>
        </p:nvSpPr>
        <p:spPr>
          <a:xfrm>
            <a:off x="676656" y="3730752"/>
            <a:ext cx="402336" cy="402336"/>
          </a:xfrm>
          <a:prstGeom prst="ellipse">
            <a:avLst/>
          </a:prstGeom>
          <a:solidFill>
            <a:srgbClr val="CADCFC"/>
          </a:solidFill>
          <a:ln/>
        </p:spPr>
      </p:sp>
      <p:sp>
        <p:nvSpPr>
          <p:cNvPr id="19" name="Text 17"/>
          <p:cNvSpPr txBox="1"/>
          <p:nvPr/>
        </p:nvSpPr>
        <p:spPr>
          <a:xfrm>
            <a:off x="676656" y="3730752"/>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4</a:t>
            </a:r>
            <a:endParaRPr lang="en-US" sz="1600" dirty="0"/>
          </a:p>
        </p:txBody>
      </p:sp>
      <p:sp>
        <p:nvSpPr>
          <p:cNvPr id="20" name="Text 18"/>
          <p:cNvSpPr txBox="1"/>
          <p:nvPr/>
        </p:nvSpPr>
        <p:spPr>
          <a:xfrm>
            <a:off x="1225296" y="3685032"/>
            <a:ext cx="4937760" cy="4937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University of Oxford</a:t>
            </a:r>
            <a:endParaRPr lang="en-US" sz="1500" dirty="0"/>
          </a:p>
        </p:txBody>
      </p:sp>
      <p:sp>
        <p:nvSpPr>
          <p:cNvPr id="21" name="Shape 19"/>
          <p:cNvSpPr/>
          <p:nvPr/>
        </p:nvSpPr>
        <p:spPr>
          <a:xfrm>
            <a:off x="548640" y="4288536"/>
            <a:ext cx="7315200" cy="493776"/>
          </a:xfrm>
          <a:prstGeom prst="roundRect">
            <a:avLst>
              <a:gd name="adj" fmla="val 11111"/>
            </a:avLst>
          </a:prstGeom>
          <a:solidFill>
            <a:srgbClr val="F4F7FE"/>
          </a:solidFill>
          <a:ln w="12700">
            <a:solidFill>
              <a:srgbClr val="E2E8F7"/>
            </a:solidFill>
            <a:prstDash val="solid"/>
          </a:ln>
        </p:spPr>
      </p:sp>
      <p:sp>
        <p:nvSpPr>
          <p:cNvPr id="22" name="Shape 20"/>
          <p:cNvSpPr/>
          <p:nvPr/>
        </p:nvSpPr>
        <p:spPr>
          <a:xfrm>
            <a:off x="676656" y="4334256"/>
            <a:ext cx="402336" cy="402336"/>
          </a:xfrm>
          <a:prstGeom prst="ellipse">
            <a:avLst/>
          </a:prstGeom>
          <a:solidFill>
            <a:srgbClr val="CADCFC"/>
          </a:solidFill>
          <a:ln/>
        </p:spPr>
      </p:sp>
      <p:sp>
        <p:nvSpPr>
          <p:cNvPr id="23" name="Text 21"/>
          <p:cNvSpPr txBox="1"/>
          <p:nvPr/>
        </p:nvSpPr>
        <p:spPr>
          <a:xfrm>
            <a:off x="676656" y="4334256"/>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5</a:t>
            </a:r>
            <a:endParaRPr lang="en-US" sz="1600" dirty="0"/>
          </a:p>
        </p:txBody>
      </p:sp>
      <p:sp>
        <p:nvSpPr>
          <p:cNvPr id="24" name="Text 22"/>
          <p:cNvSpPr txBox="1"/>
          <p:nvPr/>
        </p:nvSpPr>
        <p:spPr>
          <a:xfrm>
            <a:off x="1225296" y="4288536"/>
            <a:ext cx="4937760" cy="4937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University of California, Berkeley</a:t>
            </a:r>
            <a:endParaRPr lang="en-US" sz="1500" dirty="0"/>
          </a:p>
        </p:txBody>
      </p:sp>
      <p:sp>
        <p:nvSpPr>
          <p:cNvPr id="25" name="Shape 23"/>
          <p:cNvSpPr/>
          <p:nvPr/>
        </p:nvSpPr>
        <p:spPr>
          <a:xfrm>
            <a:off x="548640" y="4892040"/>
            <a:ext cx="7315200" cy="493776"/>
          </a:xfrm>
          <a:prstGeom prst="roundRect">
            <a:avLst>
              <a:gd name="adj" fmla="val 11111"/>
            </a:avLst>
          </a:prstGeom>
          <a:solidFill>
            <a:srgbClr val="FFFFFF"/>
          </a:solidFill>
          <a:ln w="12700">
            <a:solidFill>
              <a:srgbClr val="E2E8F7"/>
            </a:solidFill>
            <a:prstDash val="solid"/>
          </a:ln>
        </p:spPr>
      </p:sp>
      <p:sp>
        <p:nvSpPr>
          <p:cNvPr id="26" name="Shape 24"/>
          <p:cNvSpPr/>
          <p:nvPr/>
        </p:nvSpPr>
        <p:spPr>
          <a:xfrm>
            <a:off x="676656" y="4937760"/>
            <a:ext cx="402336" cy="402336"/>
          </a:xfrm>
          <a:prstGeom prst="ellipse">
            <a:avLst/>
          </a:prstGeom>
          <a:solidFill>
            <a:srgbClr val="CADCFC"/>
          </a:solidFill>
          <a:ln/>
        </p:spPr>
      </p:sp>
      <p:sp>
        <p:nvSpPr>
          <p:cNvPr id="27" name="Text 25"/>
          <p:cNvSpPr txBox="1"/>
          <p:nvPr/>
        </p:nvSpPr>
        <p:spPr>
          <a:xfrm>
            <a:off x="676656" y="4937760"/>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6</a:t>
            </a:r>
            <a:endParaRPr lang="en-US" sz="1600" dirty="0"/>
          </a:p>
        </p:txBody>
      </p:sp>
      <p:sp>
        <p:nvSpPr>
          <p:cNvPr id="28" name="Text 26"/>
          <p:cNvSpPr txBox="1"/>
          <p:nvPr/>
        </p:nvSpPr>
        <p:spPr>
          <a:xfrm>
            <a:off x="1225296" y="4892040"/>
            <a:ext cx="4937760" cy="4937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Carnegie Mellon University</a:t>
            </a:r>
            <a:endParaRPr lang="en-US" sz="1500" dirty="0"/>
          </a:p>
        </p:txBody>
      </p:sp>
      <p:sp>
        <p:nvSpPr>
          <p:cNvPr id="29" name="Shape 27"/>
          <p:cNvSpPr/>
          <p:nvPr/>
        </p:nvSpPr>
        <p:spPr>
          <a:xfrm>
            <a:off x="548640" y="5495544"/>
            <a:ext cx="7315200" cy="493776"/>
          </a:xfrm>
          <a:prstGeom prst="roundRect">
            <a:avLst>
              <a:gd name="adj" fmla="val 11111"/>
            </a:avLst>
          </a:prstGeom>
          <a:solidFill>
            <a:srgbClr val="F4F7FE"/>
          </a:solidFill>
          <a:ln w="12700">
            <a:solidFill>
              <a:srgbClr val="E2E8F7"/>
            </a:solidFill>
            <a:prstDash val="solid"/>
          </a:ln>
        </p:spPr>
      </p:sp>
      <p:sp>
        <p:nvSpPr>
          <p:cNvPr id="30" name="Shape 28"/>
          <p:cNvSpPr/>
          <p:nvPr/>
        </p:nvSpPr>
        <p:spPr>
          <a:xfrm>
            <a:off x="676656" y="5541264"/>
            <a:ext cx="402336" cy="402336"/>
          </a:xfrm>
          <a:prstGeom prst="ellipse">
            <a:avLst/>
          </a:prstGeom>
          <a:solidFill>
            <a:srgbClr val="CADCFC"/>
          </a:solidFill>
          <a:ln/>
        </p:spPr>
      </p:sp>
      <p:sp>
        <p:nvSpPr>
          <p:cNvPr id="31" name="Text 29"/>
          <p:cNvSpPr txBox="1"/>
          <p:nvPr/>
        </p:nvSpPr>
        <p:spPr>
          <a:xfrm>
            <a:off x="676656" y="5541264"/>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7</a:t>
            </a:r>
            <a:endParaRPr lang="en-US" sz="1600" dirty="0"/>
          </a:p>
        </p:txBody>
      </p:sp>
      <p:sp>
        <p:nvSpPr>
          <p:cNvPr id="32" name="Text 30"/>
          <p:cNvSpPr txBox="1"/>
          <p:nvPr/>
        </p:nvSpPr>
        <p:spPr>
          <a:xfrm>
            <a:off x="1225296" y="5495544"/>
            <a:ext cx="4937760" cy="4937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Princeton University</a:t>
            </a:r>
            <a:endParaRPr lang="en-US" sz="1500" dirty="0"/>
          </a:p>
        </p:txBody>
      </p:sp>
      <p:sp>
        <p:nvSpPr>
          <p:cNvPr id="33" name="Shape 31"/>
          <p:cNvSpPr/>
          <p:nvPr/>
        </p:nvSpPr>
        <p:spPr>
          <a:xfrm>
            <a:off x="8229600" y="1874520"/>
            <a:ext cx="3383280" cy="4206240"/>
          </a:xfrm>
          <a:prstGeom prst="roundRect">
            <a:avLst>
              <a:gd name="adj" fmla="val 2703"/>
            </a:avLst>
          </a:prstGeom>
          <a:solidFill>
            <a:srgbClr val="1E2761"/>
          </a:solidFill>
          <a:ln/>
        </p:spPr>
      </p:sp>
      <p:sp>
        <p:nvSpPr>
          <p:cNvPr id="34" name="Text 32"/>
          <p:cNvSpPr txBox="1"/>
          <p:nvPr/>
        </p:nvSpPr>
        <p:spPr>
          <a:xfrm>
            <a:off x="8458200" y="2103120"/>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this tells us</a:t>
            </a:r>
            <a:endParaRPr lang="en-US" sz="1500" dirty="0"/>
          </a:p>
        </p:txBody>
      </p:sp>
      <p:sp>
        <p:nvSpPr>
          <p:cNvPr id="35" name="Text 33"/>
          <p:cNvSpPr txBox="1"/>
          <p:nvPr/>
        </p:nvSpPr>
        <p:spPr>
          <a:xfrm>
            <a:off x="8458200" y="2514600"/>
            <a:ext cx="2926080" cy="3383280"/>
          </a:xfrm>
          <a:prstGeom prst="rect">
            <a:avLst/>
          </a:prstGeom>
          <a:noFill/>
          <a:ln/>
        </p:spPr>
        <p:txBody>
          <a:bodyPr wrap="square" lIns="0" tIns="0" rIns="0" bIns="0" rtlCol="0" anchor="ctr"/>
          <a:lstStyle/>
          <a:p>
            <a:pPr indent="0" marL="0">
              <a:lnSpc>
                <a:spcPct val="140000"/>
              </a:lnSpc>
              <a:buNone/>
            </a:pPr>
            <a:r>
              <a:rPr lang="en-US" sz="1350" dirty="0">
                <a:solidFill>
                  <a:srgbClr val="CADCFC"/>
                </a:solidFill>
                <a:latin typeface="Calibri" pitchFamily="34" charset="0"/>
                <a:ea typeface="Calibri" pitchFamily="34" charset="-122"/>
                <a:cs typeface="Calibri" pitchFamily="34" charset="-120"/>
              </a:rPr>
              <a:t>The same well-known names — MIT, Stanford, Harvard, and Oxford — appear at the top across both the general ranking and the research ranking. Their strength is consistent, not a one-off result.</a:t>
            </a:r>
            <a:endParaRPr lang="en-US" sz="1350" dirty="0"/>
          </a:p>
        </p:txBody>
      </p:sp>
      <p:sp>
        <p:nvSpPr>
          <p:cNvPr id="36" name="Text 34"/>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37" name="Text 3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SECTION B</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Which countries score best in research?</a:t>
            </a:r>
            <a:endParaRPr lang="en-US" sz="3200" dirty="0"/>
          </a:p>
        </p:txBody>
      </p:sp>
      <p:sp>
        <p:nvSpPr>
          <p:cNvPr id="4" name="Text 2"/>
          <p:cNvSpPr txBox="1"/>
          <p:nvPr/>
        </p:nvSpPr>
        <p:spPr>
          <a:xfrm>
            <a:off x="548640" y="1417320"/>
            <a:ext cx="7315200" cy="365760"/>
          </a:xfrm>
          <a:prstGeom prst="rect">
            <a:avLst/>
          </a:prstGeom>
          <a:noFill/>
          <a:ln/>
        </p:spPr>
        <p:txBody>
          <a:bodyPr wrap="square" lIns="0" tIns="0" rIns="0" bIns="0" rtlCol="0" anchor="ctr"/>
          <a:lstStyle/>
          <a:p>
            <a:pPr indent="0" marL="0">
              <a:buNone/>
            </a:pPr>
            <a:r>
              <a:rPr lang="en-US" sz="1300" b="1" dirty="0">
                <a:solidFill>
                  <a:srgbClr val="5B6B8C"/>
                </a:solidFill>
                <a:latin typeface="Calibri" pitchFamily="34" charset="0"/>
                <a:ea typeface="Calibri" pitchFamily="34" charset="-122"/>
                <a:cs typeface="Calibri" pitchFamily="34" charset="-120"/>
              </a:rPr>
              <a:t>Countries ranked by average citations per faculty member</a:t>
            </a:r>
            <a:endParaRPr lang="en-US" sz="1300" dirty="0"/>
          </a:p>
        </p:txBody>
      </p:sp>
      <p:sp>
        <p:nvSpPr>
          <p:cNvPr id="5" name="Shape 3"/>
          <p:cNvSpPr/>
          <p:nvPr/>
        </p:nvSpPr>
        <p:spPr>
          <a:xfrm>
            <a:off x="548640" y="1783080"/>
            <a:ext cx="6035040" cy="438912"/>
          </a:xfrm>
          <a:prstGeom prst="roundRect">
            <a:avLst>
              <a:gd name="adj" fmla="val 12500"/>
            </a:avLst>
          </a:prstGeom>
          <a:solidFill>
            <a:srgbClr val="F4F7FE"/>
          </a:solidFill>
          <a:ln w="12700">
            <a:solidFill>
              <a:srgbClr val="E2E8F7"/>
            </a:solidFill>
            <a:prstDash val="solid"/>
          </a:ln>
        </p:spPr>
      </p:sp>
      <p:sp>
        <p:nvSpPr>
          <p:cNvPr id="6" name="Shape 4"/>
          <p:cNvSpPr/>
          <p:nvPr/>
        </p:nvSpPr>
        <p:spPr>
          <a:xfrm>
            <a:off x="676656" y="1801368"/>
            <a:ext cx="402336" cy="402336"/>
          </a:xfrm>
          <a:prstGeom prst="ellipse">
            <a:avLst/>
          </a:prstGeom>
          <a:solidFill>
            <a:srgbClr val="F2A93B"/>
          </a:solidFill>
          <a:ln/>
        </p:spPr>
      </p:sp>
      <p:sp>
        <p:nvSpPr>
          <p:cNvPr id="7" name="Text 5"/>
          <p:cNvSpPr txBox="1"/>
          <p:nvPr/>
        </p:nvSpPr>
        <p:spPr>
          <a:xfrm>
            <a:off x="676656" y="180136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225296" y="1783080"/>
            <a:ext cx="3657600" cy="4389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Cyprus</a:t>
            </a:r>
            <a:endParaRPr lang="en-US" sz="1500" dirty="0"/>
          </a:p>
        </p:txBody>
      </p:sp>
      <p:sp>
        <p:nvSpPr>
          <p:cNvPr id="9" name="Shape 7"/>
          <p:cNvSpPr/>
          <p:nvPr/>
        </p:nvSpPr>
        <p:spPr>
          <a:xfrm>
            <a:off x="548640" y="2331720"/>
            <a:ext cx="6035040" cy="438912"/>
          </a:xfrm>
          <a:prstGeom prst="roundRect">
            <a:avLst>
              <a:gd name="adj" fmla="val 12500"/>
            </a:avLst>
          </a:prstGeom>
          <a:solidFill>
            <a:srgbClr val="FFFFFF"/>
          </a:solidFill>
          <a:ln w="12700">
            <a:solidFill>
              <a:srgbClr val="E2E8F7"/>
            </a:solidFill>
            <a:prstDash val="solid"/>
          </a:ln>
        </p:spPr>
      </p:sp>
      <p:sp>
        <p:nvSpPr>
          <p:cNvPr id="10" name="Shape 8"/>
          <p:cNvSpPr/>
          <p:nvPr/>
        </p:nvSpPr>
        <p:spPr>
          <a:xfrm>
            <a:off x="676656" y="2350008"/>
            <a:ext cx="402336" cy="402336"/>
          </a:xfrm>
          <a:prstGeom prst="ellipse">
            <a:avLst/>
          </a:prstGeom>
          <a:solidFill>
            <a:srgbClr val="F2A93B"/>
          </a:solidFill>
          <a:ln/>
        </p:spPr>
      </p:sp>
      <p:sp>
        <p:nvSpPr>
          <p:cNvPr id="11" name="Text 9"/>
          <p:cNvSpPr txBox="1"/>
          <p:nvPr/>
        </p:nvSpPr>
        <p:spPr>
          <a:xfrm>
            <a:off x="676656" y="235000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225296" y="2331720"/>
            <a:ext cx="3657600" cy="4389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Hong Kong SAR</a:t>
            </a:r>
            <a:endParaRPr lang="en-US" sz="1500" dirty="0"/>
          </a:p>
        </p:txBody>
      </p:sp>
      <p:sp>
        <p:nvSpPr>
          <p:cNvPr id="13" name="Shape 11"/>
          <p:cNvSpPr/>
          <p:nvPr/>
        </p:nvSpPr>
        <p:spPr>
          <a:xfrm>
            <a:off x="548640" y="2880360"/>
            <a:ext cx="6035040" cy="438912"/>
          </a:xfrm>
          <a:prstGeom prst="roundRect">
            <a:avLst>
              <a:gd name="adj" fmla="val 12500"/>
            </a:avLst>
          </a:prstGeom>
          <a:solidFill>
            <a:srgbClr val="F4F7FE"/>
          </a:solidFill>
          <a:ln w="12700">
            <a:solidFill>
              <a:srgbClr val="E2E8F7"/>
            </a:solidFill>
            <a:prstDash val="solid"/>
          </a:ln>
        </p:spPr>
      </p:sp>
      <p:sp>
        <p:nvSpPr>
          <p:cNvPr id="14" name="Shape 12"/>
          <p:cNvSpPr/>
          <p:nvPr/>
        </p:nvSpPr>
        <p:spPr>
          <a:xfrm>
            <a:off x="676656" y="2898648"/>
            <a:ext cx="402336" cy="402336"/>
          </a:xfrm>
          <a:prstGeom prst="ellipse">
            <a:avLst/>
          </a:prstGeom>
          <a:solidFill>
            <a:srgbClr val="F2A93B"/>
          </a:solidFill>
          <a:ln/>
        </p:spPr>
      </p:sp>
      <p:sp>
        <p:nvSpPr>
          <p:cNvPr id="15" name="Text 13"/>
          <p:cNvSpPr txBox="1"/>
          <p:nvPr/>
        </p:nvSpPr>
        <p:spPr>
          <a:xfrm>
            <a:off x="676656" y="289864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225296" y="2880360"/>
            <a:ext cx="3657600" cy="4389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Macau SAR</a:t>
            </a:r>
            <a:endParaRPr lang="en-US" sz="1500" dirty="0"/>
          </a:p>
        </p:txBody>
      </p:sp>
      <p:sp>
        <p:nvSpPr>
          <p:cNvPr id="17" name="Shape 15"/>
          <p:cNvSpPr/>
          <p:nvPr/>
        </p:nvSpPr>
        <p:spPr>
          <a:xfrm>
            <a:off x="548640" y="3429000"/>
            <a:ext cx="6035040" cy="438912"/>
          </a:xfrm>
          <a:prstGeom prst="roundRect">
            <a:avLst>
              <a:gd name="adj" fmla="val 12500"/>
            </a:avLst>
          </a:prstGeom>
          <a:solidFill>
            <a:srgbClr val="FFFFFF"/>
          </a:solidFill>
          <a:ln w="12700">
            <a:solidFill>
              <a:srgbClr val="E2E8F7"/>
            </a:solidFill>
            <a:prstDash val="solid"/>
          </a:ln>
        </p:spPr>
      </p:sp>
      <p:sp>
        <p:nvSpPr>
          <p:cNvPr id="18" name="Shape 16"/>
          <p:cNvSpPr/>
          <p:nvPr/>
        </p:nvSpPr>
        <p:spPr>
          <a:xfrm>
            <a:off x="676656" y="3447288"/>
            <a:ext cx="402336" cy="402336"/>
          </a:xfrm>
          <a:prstGeom prst="ellipse">
            <a:avLst/>
          </a:prstGeom>
          <a:solidFill>
            <a:srgbClr val="CADCFC"/>
          </a:solidFill>
          <a:ln/>
        </p:spPr>
      </p:sp>
      <p:sp>
        <p:nvSpPr>
          <p:cNvPr id="19" name="Text 17"/>
          <p:cNvSpPr txBox="1"/>
          <p:nvPr/>
        </p:nvSpPr>
        <p:spPr>
          <a:xfrm>
            <a:off x="676656" y="344728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4</a:t>
            </a:r>
            <a:endParaRPr lang="en-US" sz="1600" dirty="0"/>
          </a:p>
        </p:txBody>
      </p:sp>
      <p:sp>
        <p:nvSpPr>
          <p:cNvPr id="20" name="Text 18"/>
          <p:cNvSpPr txBox="1"/>
          <p:nvPr/>
        </p:nvSpPr>
        <p:spPr>
          <a:xfrm>
            <a:off x="1225296" y="3429000"/>
            <a:ext cx="3657600" cy="4389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Switzerland</a:t>
            </a:r>
            <a:endParaRPr lang="en-US" sz="1500" dirty="0"/>
          </a:p>
        </p:txBody>
      </p:sp>
      <p:sp>
        <p:nvSpPr>
          <p:cNvPr id="21" name="Shape 19"/>
          <p:cNvSpPr/>
          <p:nvPr/>
        </p:nvSpPr>
        <p:spPr>
          <a:xfrm>
            <a:off x="548640" y="3977640"/>
            <a:ext cx="6035040" cy="438912"/>
          </a:xfrm>
          <a:prstGeom prst="roundRect">
            <a:avLst>
              <a:gd name="adj" fmla="val 12500"/>
            </a:avLst>
          </a:prstGeom>
          <a:solidFill>
            <a:srgbClr val="F4F7FE"/>
          </a:solidFill>
          <a:ln w="12700">
            <a:solidFill>
              <a:srgbClr val="E2E8F7"/>
            </a:solidFill>
            <a:prstDash val="solid"/>
          </a:ln>
        </p:spPr>
      </p:sp>
      <p:sp>
        <p:nvSpPr>
          <p:cNvPr id="22" name="Shape 20"/>
          <p:cNvSpPr/>
          <p:nvPr/>
        </p:nvSpPr>
        <p:spPr>
          <a:xfrm>
            <a:off x="676656" y="3995928"/>
            <a:ext cx="402336" cy="402336"/>
          </a:xfrm>
          <a:prstGeom prst="ellipse">
            <a:avLst/>
          </a:prstGeom>
          <a:solidFill>
            <a:srgbClr val="CADCFC"/>
          </a:solidFill>
          <a:ln/>
        </p:spPr>
      </p:sp>
      <p:sp>
        <p:nvSpPr>
          <p:cNvPr id="23" name="Text 21"/>
          <p:cNvSpPr txBox="1"/>
          <p:nvPr/>
        </p:nvSpPr>
        <p:spPr>
          <a:xfrm>
            <a:off x="676656" y="399592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5</a:t>
            </a:r>
            <a:endParaRPr lang="en-US" sz="1600" dirty="0"/>
          </a:p>
        </p:txBody>
      </p:sp>
      <p:sp>
        <p:nvSpPr>
          <p:cNvPr id="24" name="Text 22"/>
          <p:cNvSpPr txBox="1"/>
          <p:nvPr/>
        </p:nvSpPr>
        <p:spPr>
          <a:xfrm>
            <a:off x="1225296" y="3977640"/>
            <a:ext cx="3657600" cy="4389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Singapore</a:t>
            </a:r>
            <a:endParaRPr lang="en-US" sz="1500" dirty="0"/>
          </a:p>
        </p:txBody>
      </p:sp>
      <p:sp>
        <p:nvSpPr>
          <p:cNvPr id="25" name="Shape 23"/>
          <p:cNvSpPr/>
          <p:nvPr/>
        </p:nvSpPr>
        <p:spPr>
          <a:xfrm>
            <a:off x="548640" y="4526280"/>
            <a:ext cx="6035040" cy="438912"/>
          </a:xfrm>
          <a:prstGeom prst="roundRect">
            <a:avLst>
              <a:gd name="adj" fmla="val 12500"/>
            </a:avLst>
          </a:prstGeom>
          <a:solidFill>
            <a:srgbClr val="FFFFFF"/>
          </a:solidFill>
          <a:ln w="12700">
            <a:solidFill>
              <a:srgbClr val="E2E8F7"/>
            </a:solidFill>
            <a:prstDash val="solid"/>
          </a:ln>
        </p:spPr>
      </p:sp>
      <p:sp>
        <p:nvSpPr>
          <p:cNvPr id="26" name="Shape 24"/>
          <p:cNvSpPr/>
          <p:nvPr/>
        </p:nvSpPr>
        <p:spPr>
          <a:xfrm>
            <a:off x="676656" y="4544568"/>
            <a:ext cx="402336" cy="402336"/>
          </a:xfrm>
          <a:prstGeom prst="ellipse">
            <a:avLst/>
          </a:prstGeom>
          <a:solidFill>
            <a:srgbClr val="CADCFC"/>
          </a:solidFill>
          <a:ln/>
        </p:spPr>
      </p:sp>
      <p:sp>
        <p:nvSpPr>
          <p:cNvPr id="27" name="Text 25"/>
          <p:cNvSpPr txBox="1"/>
          <p:nvPr/>
        </p:nvSpPr>
        <p:spPr>
          <a:xfrm>
            <a:off x="676656" y="454456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6</a:t>
            </a:r>
            <a:endParaRPr lang="en-US" sz="1600" dirty="0"/>
          </a:p>
        </p:txBody>
      </p:sp>
      <p:sp>
        <p:nvSpPr>
          <p:cNvPr id="28" name="Text 26"/>
          <p:cNvSpPr txBox="1"/>
          <p:nvPr/>
        </p:nvSpPr>
        <p:spPr>
          <a:xfrm>
            <a:off x="1225296" y="4526280"/>
            <a:ext cx="3657600" cy="4389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Iran</a:t>
            </a:r>
            <a:endParaRPr lang="en-US" sz="1500" dirty="0"/>
          </a:p>
        </p:txBody>
      </p:sp>
      <p:sp>
        <p:nvSpPr>
          <p:cNvPr id="29" name="Shape 27"/>
          <p:cNvSpPr/>
          <p:nvPr/>
        </p:nvSpPr>
        <p:spPr>
          <a:xfrm>
            <a:off x="548640" y="5074920"/>
            <a:ext cx="6035040" cy="438912"/>
          </a:xfrm>
          <a:prstGeom prst="roundRect">
            <a:avLst>
              <a:gd name="adj" fmla="val 12500"/>
            </a:avLst>
          </a:prstGeom>
          <a:solidFill>
            <a:srgbClr val="F4F7FE"/>
          </a:solidFill>
          <a:ln w="12700">
            <a:solidFill>
              <a:srgbClr val="E2E8F7"/>
            </a:solidFill>
            <a:prstDash val="solid"/>
          </a:ln>
        </p:spPr>
      </p:sp>
      <p:sp>
        <p:nvSpPr>
          <p:cNvPr id="30" name="Shape 28"/>
          <p:cNvSpPr/>
          <p:nvPr/>
        </p:nvSpPr>
        <p:spPr>
          <a:xfrm>
            <a:off x="676656" y="5093208"/>
            <a:ext cx="402336" cy="402336"/>
          </a:xfrm>
          <a:prstGeom prst="ellipse">
            <a:avLst/>
          </a:prstGeom>
          <a:solidFill>
            <a:srgbClr val="CADCFC"/>
          </a:solidFill>
          <a:ln/>
        </p:spPr>
      </p:sp>
      <p:sp>
        <p:nvSpPr>
          <p:cNvPr id="31" name="Text 29"/>
          <p:cNvSpPr txBox="1"/>
          <p:nvPr/>
        </p:nvSpPr>
        <p:spPr>
          <a:xfrm>
            <a:off x="676656" y="509320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7</a:t>
            </a:r>
            <a:endParaRPr lang="en-US" sz="1600" dirty="0"/>
          </a:p>
        </p:txBody>
      </p:sp>
      <p:sp>
        <p:nvSpPr>
          <p:cNvPr id="32" name="Text 30"/>
          <p:cNvSpPr txBox="1"/>
          <p:nvPr/>
        </p:nvSpPr>
        <p:spPr>
          <a:xfrm>
            <a:off x="1225296" y="5074920"/>
            <a:ext cx="3657600" cy="4389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Netherlands</a:t>
            </a:r>
            <a:endParaRPr lang="en-US" sz="1500" dirty="0"/>
          </a:p>
        </p:txBody>
      </p:sp>
      <p:sp>
        <p:nvSpPr>
          <p:cNvPr id="33" name="Shape 31"/>
          <p:cNvSpPr/>
          <p:nvPr/>
        </p:nvSpPr>
        <p:spPr>
          <a:xfrm>
            <a:off x="548640" y="5623560"/>
            <a:ext cx="6035040" cy="438912"/>
          </a:xfrm>
          <a:prstGeom prst="roundRect">
            <a:avLst>
              <a:gd name="adj" fmla="val 12500"/>
            </a:avLst>
          </a:prstGeom>
          <a:solidFill>
            <a:srgbClr val="FFFFFF"/>
          </a:solidFill>
          <a:ln w="12700">
            <a:solidFill>
              <a:srgbClr val="E2E8F7"/>
            </a:solidFill>
            <a:prstDash val="solid"/>
          </a:ln>
        </p:spPr>
      </p:sp>
      <p:sp>
        <p:nvSpPr>
          <p:cNvPr id="34" name="Shape 32"/>
          <p:cNvSpPr/>
          <p:nvPr/>
        </p:nvSpPr>
        <p:spPr>
          <a:xfrm>
            <a:off x="676656" y="5641848"/>
            <a:ext cx="402336" cy="402336"/>
          </a:xfrm>
          <a:prstGeom prst="ellipse">
            <a:avLst/>
          </a:prstGeom>
          <a:solidFill>
            <a:srgbClr val="CADCFC"/>
          </a:solidFill>
          <a:ln/>
        </p:spPr>
      </p:sp>
      <p:sp>
        <p:nvSpPr>
          <p:cNvPr id="35" name="Text 33"/>
          <p:cNvSpPr txBox="1"/>
          <p:nvPr/>
        </p:nvSpPr>
        <p:spPr>
          <a:xfrm>
            <a:off x="676656" y="564184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8</a:t>
            </a:r>
            <a:endParaRPr lang="en-US" sz="1600" dirty="0"/>
          </a:p>
        </p:txBody>
      </p:sp>
      <p:sp>
        <p:nvSpPr>
          <p:cNvPr id="36" name="Text 34"/>
          <p:cNvSpPr txBox="1"/>
          <p:nvPr/>
        </p:nvSpPr>
        <p:spPr>
          <a:xfrm>
            <a:off x="1225296" y="5623560"/>
            <a:ext cx="3657600" cy="4389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Qatar</a:t>
            </a:r>
            <a:endParaRPr lang="en-US" sz="1500" dirty="0"/>
          </a:p>
        </p:txBody>
      </p:sp>
      <p:sp>
        <p:nvSpPr>
          <p:cNvPr id="37" name="Shape 35"/>
          <p:cNvSpPr/>
          <p:nvPr/>
        </p:nvSpPr>
        <p:spPr>
          <a:xfrm>
            <a:off x="6858000" y="1874520"/>
            <a:ext cx="4754880" cy="4709160"/>
          </a:xfrm>
          <a:prstGeom prst="roundRect">
            <a:avLst>
              <a:gd name="adj" fmla="val 1942"/>
            </a:avLst>
          </a:prstGeom>
          <a:solidFill>
            <a:srgbClr val="F4F7FE"/>
          </a:solidFill>
          <a:ln/>
        </p:spPr>
      </p:sp>
      <p:sp>
        <p:nvSpPr>
          <p:cNvPr id="38" name="Text 36"/>
          <p:cNvSpPr txBox="1"/>
          <p:nvPr/>
        </p:nvSpPr>
        <p:spPr>
          <a:xfrm>
            <a:off x="7132320" y="2103120"/>
            <a:ext cx="42062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A surprising pattern</a:t>
            </a:r>
            <a:endParaRPr lang="en-US" sz="1600" dirty="0"/>
          </a:p>
        </p:txBody>
      </p:sp>
      <p:sp>
        <p:nvSpPr>
          <p:cNvPr id="39" name="Text 37"/>
          <p:cNvSpPr txBox="1"/>
          <p:nvPr/>
        </p:nvSpPr>
        <p:spPr>
          <a:xfrm>
            <a:off x="7132320" y="2606040"/>
            <a:ext cx="4206240" cy="1645920"/>
          </a:xfrm>
          <a:prstGeom prst="rect">
            <a:avLst/>
          </a:prstGeom>
          <a:noFill/>
          <a:ln/>
        </p:spPr>
        <p:txBody>
          <a:bodyPr wrap="square" lIns="0" tIns="0" rIns="0" bIns="0" rtlCol="0" anchor="ctr"/>
          <a:lstStyle/>
          <a:p>
            <a:pPr indent="0" marL="0">
              <a:lnSpc>
                <a:spcPct val="135000"/>
              </a:lnSpc>
              <a:buNone/>
            </a:pPr>
            <a:r>
              <a:rPr lang="en-US" sz="1350" dirty="0">
                <a:solidFill>
                  <a:srgbClr val="1E2761"/>
                </a:solidFill>
                <a:latin typeface="Calibri" pitchFamily="34" charset="0"/>
                <a:ea typeface="Calibri" pitchFamily="34" charset="-122"/>
                <a:cs typeface="Calibri" pitchFamily="34" charset="-120"/>
              </a:rPr>
              <a:t>The countries with the highest research scores per faculty member are not always the biggest countries. Smaller, research-focused places like Cyprus, Hong Kong, and Singapore punch above their weight.</a:t>
            </a:r>
            <a:endParaRPr lang="en-US" sz="1350" dirty="0"/>
          </a:p>
        </p:txBody>
      </p:sp>
      <p:sp>
        <p:nvSpPr>
          <p:cNvPr id="40" name="Shape 38"/>
          <p:cNvSpPr/>
          <p:nvPr/>
        </p:nvSpPr>
        <p:spPr>
          <a:xfrm>
            <a:off x="7132320" y="4343400"/>
            <a:ext cx="4206240" cy="0"/>
          </a:xfrm>
          <a:prstGeom prst="line">
            <a:avLst/>
          </a:prstGeom>
          <a:noFill/>
          <a:ln w="12700">
            <a:solidFill>
              <a:srgbClr val="D6DEF2"/>
            </a:solidFill>
            <a:prstDash val="solid"/>
          </a:ln>
        </p:spPr>
      </p:sp>
      <p:sp>
        <p:nvSpPr>
          <p:cNvPr id="41" name="Text 39"/>
          <p:cNvSpPr txBox="1"/>
          <p:nvPr/>
        </p:nvSpPr>
        <p:spPr>
          <a:xfrm>
            <a:off x="7132320" y="4526280"/>
            <a:ext cx="4206240" cy="1645920"/>
          </a:xfrm>
          <a:prstGeom prst="rect">
            <a:avLst/>
          </a:prstGeom>
          <a:noFill/>
          <a:ln/>
        </p:spPr>
        <p:txBody>
          <a:bodyPr wrap="square" lIns="0" tIns="0" rIns="0" bIns="0" rtlCol="0" anchor="ctr"/>
          <a:lstStyle/>
          <a:p>
            <a:pPr indent="0" marL="0">
              <a:lnSpc>
                <a:spcPct val="135000"/>
              </a:lnSpc>
              <a:buNone/>
            </a:pPr>
            <a:r>
              <a:rPr lang="en-US" sz="1350" dirty="0">
                <a:solidFill>
                  <a:srgbClr val="1E2761"/>
                </a:solidFill>
                <a:latin typeface="Calibri" pitchFamily="34" charset="0"/>
                <a:ea typeface="Calibri" pitchFamily="34" charset="-122"/>
                <a:cs typeface="Calibri" pitchFamily="34" charset="-120"/>
              </a:rPr>
              <a:t>This means a small country with a few excellent universities can outperform much larger countries on a per-person basis.</a:t>
            </a:r>
            <a:endParaRPr lang="en-US" sz="1350" dirty="0"/>
          </a:p>
        </p:txBody>
      </p:sp>
      <p:sp>
        <p:nvSpPr>
          <p:cNvPr id="42" name="Text 4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43" name="Text 4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SECTION C</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Student Analytics — key numbers</a:t>
            </a:r>
            <a:endParaRPr lang="en-US" sz="3200" dirty="0"/>
          </a:p>
        </p:txBody>
      </p:sp>
      <p:sp>
        <p:nvSpPr>
          <p:cNvPr id="4" name="Text 2"/>
          <p:cNvSpPr txBox="1"/>
          <p:nvPr/>
        </p:nvSpPr>
        <p:spPr>
          <a:xfrm>
            <a:off x="548640" y="1417320"/>
            <a:ext cx="10058400" cy="548640"/>
          </a:xfrm>
          <a:prstGeom prst="rect">
            <a:avLst/>
          </a:prstGeom>
          <a:noFill/>
          <a:ln/>
        </p:spPr>
        <p:txBody>
          <a:bodyPr wrap="square" lIns="0" tIns="0" rIns="0" bIns="0" rtlCol="0" anchor="ctr"/>
          <a:lstStyle/>
          <a:p>
            <a:pPr indent="0" marL="0">
              <a:buNone/>
            </a:pPr>
            <a:r>
              <a:rPr lang="en-US" sz="1500" dirty="0">
                <a:solidFill>
                  <a:srgbClr val="5B6B8C"/>
                </a:solidFill>
                <a:latin typeface="Calibri" pitchFamily="34" charset="0"/>
                <a:ea typeface="Calibri" pitchFamily="34" charset="-122"/>
                <a:cs typeface="Calibri" pitchFamily="34" charset="-120"/>
              </a:rPr>
              <a:t>This tab looks at students: how many there are, how well they are supported by faculty, and how international the student body is.</a:t>
            </a:r>
            <a:endParaRPr lang="en-US" sz="1500" dirty="0"/>
          </a:p>
        </p:txBody>
      </p:sp>
      <p:sp>
        <p:nvSpPr>
          <p:cNvPr id="5" name="Shape 3"/>
          <p:cNvSpPr/>
          <p:nvPr/>
        </p:nvSpPr>
        <p:spPr>
          <a:xfrm>
            <a:off x="548640" y="228600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6" name="Text 4"/>
          <p:cNvSpPr txBox="1"/>
          <p:nvPr/>
        </p:nvSpPr>
        <p:spPr>
          <a:xfrm>
            <a:off x="640080" y="245059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51,136</a:t>
            </a:r>
            <a:endParaRPr lang="en-US" sz="3000" dirty="0"/>
          </a:p>
        </p:txBody>
      </p:sp>
      <p:sp>
        <p:nvSpPr>
          <p:cNvPr id="7" name="Text 5"/>
          <p:cNvSpPr txBox="1"/>
          <p:nvPr/>
        </p:nvSpPr>
        <p:spPr>
          <a:xfrm>
            <a:off x="640080" y="358993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Avg. Student Ratio</a:t>
            </a:r>
            <a:endParaRPr lang="en-US" sz="1300" dirty="0"/>
          </a:p>
        </p:txBody>
      </p:sp>
      <p:sp>
        <p:nvSpPr>
          <p:cNvPr id="8" name="Shape 6"/>
          <p:cNvSpPr/>
          <p:nvPr/>
        </p:nvSpPr>
        <p:spPr>
          <a:xfrm>
            <a:off x="1650492" y="4334256"/>
            <a:ext cx="402336" cy="45720"/>
          </a:xfrm>
          <a:prstGeom prst="rect">
            <a:avLst/>
          </a:prstGeom>
          <a:solidFill>
            <a:srgbClr val="F2A93B"/>
          </a:solidFill>
          <a:ln/>
        </p:spPr>
      </p:sp>
      <p:sp>
        <p:nvSpPr>
          <p:cNvPr id="9" name="Shape 7"/>
          <p:cNvSpPr/>
          <p:nvPr/>
        </p:nvSpPr>
        <p:spPr>
          <a:xfrm>
            <a:off x="3383280" y="228600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0" name="Text 8"/>
          <p:cNvSpPr txBox="1"/>
          <p:nvPr/>
        </p:nvSpPr>
        <p:spPr>
          <a:xfrm>
            <a:off x="3474720" y="245059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18,358</a:t>
            </a:r>
            <a:endParaRPr lang="en-US" sz="3000" dirty="0"/>
          </a:p>
        </p:txBody>
      </p:sp>
      <p:sp>
        <p:nvSpPr>
          <p:cNvPr id="11" name="Text 9"/>
          <p:cNvSpPr txBox="1"/>
          <p:nvPr/>
        </p:nvSpPr>
        <p:spPr>
          <a:xfrm>
            <a:off x="3474720" y="358993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Avg. Student Score</a:t>
            </a:r>
            <a:endParaRPr lang="en-US" sz="1300" dirty="0"/>
          </a:p>
        </p:txBody>
      </p:sp>
      <p:sp>
        <p:nvSpPr>
          <p:cNvPr id="12" name="Shape 10"/>
          <p:cNvSpPr/>
          <p:nvPr/>
        </p:nvSpPr>
        <p:spPr>
          <a:xfrm>
            <a:off x="4485132" y="4334256"/>
            <a:ext cx="402336" cy="45720"/>
          </a:xfrm>
          <a:prstGeom prst="rect">
            <a:avLst/>
          </a:prstGeom>
          <a:solidFill>
            <a:srgbClr val="F2A93B"/>
          </a:solidFill>
          <a:ln/>
        </p:spPr>
      </p:sp>
      <p:sp>
        <p:nvSpPr>
          <p:cNvPr id="13" name="Shape 11"/>
          <p:cNvSpPr/>
          <p:nvPr/>
        </p:nvSpPr>
        <p:spPr>
          <a:xfrm>
            <a:off x="6217920" y="228600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4" name="Text 12"/>
          <p:cNvSpPr txBox="1"/>
          <p:nvPr/>
        </p:nvSpPr>
        <p:spPr>
          <a:xfrm>
            <a:off x="6309360" y="245059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28.63</a:t>
            </a:r>
            <a:endParaRPr lang="en-US" sz="3000" dirty="0"/>
          </a:p>
        </p:txBody>
      </p:sp>
      <p:sp>
        <p:nvSpPr>
          <p:cNvPr id="15" name="Text 13"/>
          <p:cNvSpPr txBox="1"/>
          <p:nvPr/>
        </p:nvSpPr>
        <p:spPr>
          <a:xfrm>
            <a:off x="6309360" y="358993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Avg. Faculty-Student Score</a:t>
            </a:r>
            <a:endParaRPr lang="en-US" sz="1300" dirty="0"/>
          </a:p>
        </p:txBody>
      </p:sp>
      <p:sp>
        <p:nvSpPr>
          <p:cNvPr id="16" name="Shape 14"/>
          <p:cNvSpPr/>
          <p:nvPr/>
        </p:nvSpPr>
        <p:spPr>
          <a:xfrm>
            <a:off x="7319772" y="4334256"/>
            <a:ext cx="402336" cy="45720"/>
          </a:xfrm>
          <a:prstGeom prst="rect">
            <a:avLst/>
          </a:prstGeom>
          <a:solidFill>
            <a:srgbClr val="F2A93B"/>
          </a:solidFill>
          <a:ln/>
        </p:spPr>
      </p:sp>
      <p:sp>
        <p:nvSpPr>
          <p:cNvPr id="17" name="Shape 15"/>
          <p:cNvSpPr/>
          <p:nvPr/>
        </p:nvSpPr>
        <p:spPr>
          <a:xfrm>
            <a:off x="9052560" y="228600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8" name="Text 16"/>
          <p:cNvSpPr txBox="1"/>
          <p:nvPr/>
        </p:nvSpPr>
        <p:spPr>
          <a:xfrm>
            <a:off x="9144000" y="245059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688</a:t>
            </a:r>
            <a:endParaRPr lang="en-US" sz="3000" dirty="0"/>
          </a:p>
        </p:txBody>
      </p:sp>
      <p:sp>
        <p:nvSpPr>
          <p:cNvPr id="19" name="Text 17"/>
          <p:cNvSpPr txBox="1"/>
          <p:nvPr/>
        </p:nvSpPr>
        <p:spPr>
          <a:xfrm>
            <a:off x="9144000" y="358993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International Student Rank</a:t>
            </a:r>
            <a:endParaRPr lang="en-US" sz="1300" dirty="0"/>
          </a:p>
        </p:txBody>
      </p:sp>
      <p:sp>
        <p:nvSpPr>
          <p:cNvPr id="20" name="Shape 18"/>
          <p:cNvSpPr/>
          <p:nvPr/>
        </p:nvSpPr>
        <p:spPr>
          <a:xfrm>
            <a:off x="10154412" y="4334256"/>
            <a:ext cx="402336" cy="45720"/>
          </a:xfrm>
          <a:prstGeom prst="rect">
            <a:avLst/>
          </a:prstGeom>
          <a:solidFill>
            <a:srgbClr val="F2A93B"/>
          </a:solidFill>
          <a:ln/>
        </p:spPr>
      </p:sp>
      <p:sp>
        <p:nvSpPr>
          <p:cNvPr id="21" name="Text 19"/>
          <p:cNvSpPr txBox="1"/>
          <p:nvPr/>
        </p:nvSpPr>
        <p:spPr>
          <a:xfrm>
            <a:off x="548640" y="4754880"/>
            <a:ext cx="10515600" cy="1097280"/>
          </a:xfrm>
          <a:prstGeom prst="rect">
            <a:avLst/>
          </a:prstGeom>
          <a:noFill/>
          <a:ln/>
        </p:spPr>
        <p:txBody>
          <a:bodyPr wrap="square" lIns="0" tIns="0" rIns="0" bIns="0" rtlCol="0" anchor="ctr"/>
          <a:lstStyle/>
          <a:p>
            <a:pPr indent="0" marL="0">
              <a:lnSpc>
                <a:spcPct val="135000"/>
              </a:lnSpc>
              <a:buNone/>
            </a:pPr>
            <a:r>
              <a:rPr lang="en-US" sz="1450" dirty="0">
                <a:solidFill>
                  <a:srgbClr val="1E2761"/>
                </a:solidFill>
                <a:latin typeface="Calibri" pitchFamily="34" charset="0"/>
                <a:ea typeface="Calibri" pitchFamily="34" charset="-122"/>
                <a:cs typeface="Calibri" pitchFamily="34" charset="-120"/>
              </a:rPr>
              <a:t>These numbers give a quick sense of scale — how many students are represented in the data, and how universities are staffed to support them.</a:t>
            </a:r>
            <a:endParaRPr lang="en-US" sz="1450" dirty="0"/>
          </a:p>
        </p:txBody>
      </p:sp>
      <p:sp>
        <p:nvSpPr>
          <p:cNvPr id="22" name="Text 2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23"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SECTION C</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International students and diversity</a:t>
            </a:r>
            <a:endParaRPr lang="en-US" sz="3200" dirty="0"/>
          </a:p>
        </p:txBody>
      </p:sp>
      <p:sp>
        <p:nvSpPr>
          <p:cNvPr id="4" name="Shape 2"/>
          <p:cNvSpPr/>
          <p:nvPr/>
        </p:nvSpPr>
        <p:spPr>
          <a:xfrm>
            <a:off x="548640" y="1737360"/>
            <a:ext cx="502920" cy="502920"/>
          </a:xfrm>
          <a:prstGeom prst="ellipse">
            <a:avLst/>
          </a:prstGeom>
          <a:solidFill>
            <a:srgbClr val="CADCFC"/>
          </a:solidFill>
          <a:ln/>
        </p:spPr>
      </p:sp>
      <p:sp>
        <p:nvSpPr>
          <p:cNvPr id="5" name="Text 3"/>
          <p:cNvSpPr txBox="1"/>
          <p:nvPr/>
        </p:nvSpPr>
        <p:spPr>
          <a:xfrm>
            <a:off x="548640" y="173736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234440" y="1691640"/>
            <a:ext cx="46177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International Student Analysis</a:t>
            </a:r>
            <a:endParaRPr lang="en-US" sz="1600" dirty="0"/>
          </a:p>
        </p:txBody>
      </p:sp>
      <p:sp>
        <p:nvSpPr>
          <p:cNvPr id="7" name="Text 5"/>
          <p:cNvSpPr txBox="1"/>
          <p:nvPr/>
        </p:nvSpPr>
        <p:spPr>
          <a:xfrm>
            <a:off x="1234440" y="2039112"/>
            <a:ext cx="461772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A bar chart ranks countries by their share of international students. A handful of popular study destinations stand well above the rest, then numbers drop off gradually for most other countries.</a:t>
            </a:r>
            <a:endParaRPr lang="en-US" sz="1300" dirty="0"/>
          </a:p>
        </p:txBody>
      </p:sp>
      <p:sp>
        <p:nvSpPr>
          <p:cNvPr id="8" name="Shape 6"/>
          <p:cNvSpPr/>
          <p:nvPr/>
        </p:nvSpPr>
        <p:spPr>
          <a:xfrm>
            <a:off x="548640" y="2880360"/>
            <a:ext cx="502920" cy="502920"/>
          </a:xfrm>
          <a:prstGeom prst="ellipse">
            <a:avLst/>
          </a:prstGeom>
          <a:solidFill>
            <a:srgbClr val="CADCFC"/>
          </a:solidFill>
          <a:ln/>
        </p:spPr>
      </p:sp>
      <p:sp>
        <p:nvSpPr>
          <p:cNvPr id="9" name="Text 7"/>
          <p:cNvSpPr txBox="1"/>
          <p:nvPr/>
        </p:nvSpPr>
        <p:spPr>
          <a:xfrm>
            <a:off x="548640" y="288036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234440" y="2834640"/>
            <a:ext cx="46177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Student pie by Region</a:t>
            </a:r>
            <a:endParaRPr lang="en-US" sz="1600" dirty="0"/>
          </a:p>
        </p:txBody>
      </p:sp>
      <p:sp>
        <p:nvSpPr>
          <p:cNvPr id="11" name="Text 9"/>
          <p:cNvSpPr txBox="1"/>
          <p:nvPr/>
        </p:nvSpPr>
        <p:spPr>
          <a:xfrm>
            <a:off x="1234440" y="3182112"/>
            <a:ext cx="461772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A pie chart shows how the student population splits across regions, making it easy to see which parts of the world host the most students.</a:t>
            </a:r>
            <a:endParaRPr lang="en-US" sz="1300" dirty="0"/>
          </a:p>
        </p:txBody>
      </p:sp>
      <p:sp>
        <p:nvSpPr>
          <p:cNvPr id="12" name="Shape 10"/>
          <p:cNvSpPr/>
          <p:nvPr/>
        </p:nvSpPr>
        <p:spPr>
          <a:xfrm>
            <a:off x="548640" y="4023360"/>
            <a:ext cx="502920" cy="502920"/>
          </a:xfrm>
          <a:prstGeom prst="ellipse">
            <a:avLst/>
          </a:prstGeom>
          <a:solidFill>
            <a:srgbClr val="CADCFC"/>
          </a:solidFill>
          <a:ln/>
        </p:spPr>
      </p:sp>
      <p:sp>
        <p:nvSpPr>
          <p:cNvPr id="13" name="Text 11"/>
          <p:cNvSpPr txBox="1"/>
          <p:nvPr/>
        </p:nvSpPr>
        <p:spPr>
          <a:xfrm>
            <a:off x="548640" y="402336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234440" y="3977640"/>
            <a:ext cx="46177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Student Diversity Trends</a:t>
            </a:r>
            <a:endParaRPr lang="en-US" sz="1600" dirty="0"/>
          </a:p>
        </p:txBody>
      </p:sp>
      <p:sp>
        <p:nvSpPr>
          <p:cNvPr id="15" name="Text 13"/>
          <p:cNvSpPr txBox="1"/>
          <p:nvPr/>
        </p:nvSpPr>
        <p:spPr>
          <a:xfrm>
            <a:off x="1234440" y="4325112"/>
            <a:ext cx="461772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Bar charts compare countries like Brunei and Hong Kong SAR side by side on international faculty and academic reputation scores.</a:t>
            </a:r>
            <a:endParaRPr lang="en-US" sz="1300" dirty="0"/>
          </a:p>
        </p:txBody>
      </p:sp>
      <p:sp>
        <p:nvSpPr>
          <p:cNvPr id="16" name="Shape 14"/>
          <p:cNvSpPr/>
          <p:nvPr/>
        </p:nvSpPr>
        <p:spPr>
          <a:xfrm>
            <a:off x="548640" y="5166360"/>
            <a:ext cx="502920" cy="502920"/>
          </a:xfrm>
          <a:prstGeom prst="ellipse">
            <a:avLst/>
          </a:prstGeom>
          <a:solidFill>
            <a:srgbClr val="CADCFC"/>
          </a:solidFill>
          <a:ln/>
        </p:spPr>
      </p:sp>
      <p:sp>
        <p:nvSpPr>
          <p:cNvPr id="17" name="Text 15"/>
          <p:cNvSpPr txBox="1"/>
          <p:nvPr/>
        </p:nvSpPr>
        <p:spPr>
          <a:xfrm>
            <a:off x="548640" y="516636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1234440" y="5120640"/>
            <a:ext cx="46177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Faculty-Student Ratio</a:t>
            </a:r>
            <a:endParaRPr lang="en-US" sz="1600" dirty="0"/>
          </a:p>
        </p:txBody>
      </p:sp>
      <p:sp>
        <p:nvSpPr>
          <p:cNvPr id="19" name="Text 17"/>
          <p:cNvSpPr txBox="1"/>
          <p:nvPr/>
        </p:nvSpPr>
        <p:spPr>
          <a:xfrm>
            <a:off x="1234440" y="5468112"/>
            <a:ext cx="461772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A chart shows the faculty-to-student ratio for well-known universities such as Stanford, MIT, and Johns Hopkins.</a:t>
            </a:r>
            <a:endParaRPr lang="en-US" sz="1300" dirty="0"/>
          </a:p>
        </p:txBody>
      </p:sp>
      <p:sp>
        <p:nvSpPr>
          <p:cNvPr id="20" name="Shape 18"/>
          <p:cNvSpPr/>
          <p:nvPr/>
        </p:nvSpPr>
        <p:spPr>
          <a:xfrm>
            <a:off x="6766560" y="1737360"/>
            <a:ext cx="4846320" cy="4023360"/>
          </a:xfrm>
          <a:prstGeom prst="roundRect">
            <a:avLst>
              <a:gd name="adj" fmla="val 2273"/>
            </a:avLst>
          </a:prstGeom>
          <a:solidFill>
            <a:srgbClr val="1E2761"/>
          </a:solidFill>
          <a:ln/>
        </p:spPr>
      </p:sp>
      <p:sp>
        <p:nvSpPr>
          <p:cNvPr id="21" name="Text 19"/>
          <p:cNvSpPr txBox="1"/>
          <p:nvPr/>
        </p:nvSpPr>
        <p:spPr>
          <a:xfrm>
            <a:off x="7040880" y="1965960"/>
            <a:ext cx="42976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Why it matters</a:t>
            </a:r>
            <a:endParaRPr lang="en-US" sz="1700" dirty="0"/>
          </a:p>
        </p:txBody>
      </p:sp>
      <p:sp>
        <p:nvSpPr>
          <p:cNvPr id="22" name="Text 20"/>
          <p:cNvSpPr txBox="1"/>
          <p:nvPr/>
        </p:nvSpPr>
        <p:spPr>
          <a:xfrm>
            <a:off x="7040880" y="2423160"/>
            <a:ext cx="4297680" cy="3108960"/>
          </a:xfrm>
          <a:prstGeom prst="rect">
            <a:avLst/>
          </a:prstGeom>
          <a:noFill/>
          <a:ln/>
        </p:spPr>
        <p:txBody>
          <a:bodyPr wrap="square" lIns="0" tIns="0" rIns="0" bIns="0" rtlCol="0" anchor="ctr"/>
          <a:lstStyle/>
          <a:p>
            <a:pPr indent="0" marL="0">
              <a:lnSpc>
                <a:spcPct val="140000"/>
              </a:lnSpc>
              <a:buNone/>
            </a:pPr>
            <a:r>
              <a:rPr lang="en-US" sz="1450" dirty="0">
                <a:solidFill>
                  <a:srgbClr val="CADCFC"/>
                </a:solidFill>
                <a:latin typeface="Calibri" pitchFamily="34" charset="0"/>
                <a:ea typeface="Calibri" pitchFamily="34" charset="-122"/>
                <a:cs typeface="Calibri" pitchFamily="34" charset="-120"/>
              </a:rPr>
              <a:t>A diverse, well-supported student body is often a sign of a strong university. Prospective students can use this section to find universities and countries that welcome international learners and maintain healthy faculty support.</a:t>
            </a:r>
            <a:endParaRPr lang="en-US" sz="1450" dirty="0"/>
          </a:p>
        </p:txBody>
      </p:sp>
      <p:sp>
        <p:nvSpPr>
          <p:cNvPr id="23" name="Text 21"/>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24" name="Text 22"/>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SECTION D</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Country Comparison — key numbers</a:t>
            </a:r>
            <a:endParaRPr lang="en-US" sz="3200" dirty="0"/>
          </a:p>
        </p:txBody>
      </p:sp>
      <p:sp>
        <p:nvSpPr>
          <p:cNvPr id="4" name="Text 2"/>
          <p:cNvSpPr txBox="1"/>
          <p:nvPr/>
        </p:nvSpPr>
        <p:spPr>
          <a:xfrm>
            <a:off x="548640" y="1417320"/>
            <a:ext cx="10058400" cy="457200"/>
          </a:xfrm>
          <a:prstGeom prst="rect">
            <a:avLst/>
          </a:prstGeom>
          <a:noFill/>
          <a:ln/>
        </p:spPr>
        <p:txBody>
          <a:bodyPr wrap="square" lIns="0" tIns="0" rIns="0" bIns="0" rtlCol="0" anchor="ctr"/>
          <a:lstStyle/>
          <a:p>
            <a:pPr indent="0" marL="0">
              <a:buNone/>
            </a:pPr>
            <a:r>
              <a:rPr lang="en-US" sz="1500" dirty="0">
                <a:solidFill>
                  <a:srgbClr val="5B6B8C"/>
                </a:solidFill>
                <a:latin typeface="Calibri" pitchFamily="34" charset="0"/>
                <a:ea typeface="Calibri" pitchFamily="34" charset="-122"/>
                <a:cs typeface="Calibri" pitchFamily="34" charset="-120"/>
              </a:rPr>
              <a:t>This tab zooms out from individual universities to compare whole countries and regions.</a:t>
            </a:r>
            <a:endParaRPr lang="en-US" sz="1500" dirty="0"/>
          </a:p>
        </p:txBody>
      </p:sp>
      <p:sp>
        <p:nvSpPr>
          <p:cNvPr id="5" name="Shape 3"/>
          <p:cNvSpPr/>
          <p:nvPr/>
        </p:nvSpPr>
        <p:spPr>
          <a:xfrm>
            <a:off x="548640" y="219456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6" name="Text 4"/>
          <p:cNvSpPr txBox="1"/>
          <p:nvPr/>
        </p:nvSpPr>
        <p:spPr>
          <a:xfrm>
            <a:off x="640080" y="235915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105</a:t>
            </a:r>
            <a:endParaRPr lang="en-US" sz="3000" dirty="0"/>
          </a:p>
        </p:txBody>
      </p:sp>
      <p:sp>
        <p:nvSpPr>
          <p:cNvPr id="7" name="Text 5"/>
          <p:cNvSpPr txBox="1"/>
          <p:nvPr/>
        </p:nvSpPr>
        <p:spPr>
          <a:xfrm>
            <a:off x="640080" y="349849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Total Countries</a:t>
            </a:r>
            <a:endParaRPr lang="en-US" sz="1300" dirty="0"/>
          </a:p>
        </p:txBody>
      </p:sp>
      <p:sp>
        <p:nvSpPr>
          <p:cNvPr id="8" name="Shape 6"/>
          <p:cNvSpPr/>
          <p:nvPr/>
        </p:nvSpPr>
        <p:spPr>
          <a:xfrm>
            <a:off x="1650492" y="4242816"/>
            <a:ext cx="402336" cy="45720"/>
          </a:xfrm>
          <a:prstGeom prst="rect">
            <a:avLst/>
          </a:prstGeom>
          <a:solidFill>
            <a:srgbClr val="F2A93B"/>
          </a:solidFill>
          <a:ln/>
        </p:spPr>
      </p:sp>
      <p:sp>
        <p:nvSpPr>
          <p:cNvPr id="9" name="Shape 7"/>
          <p:cNvSpPr/>
          <p:nvPr/>
        </p:nvSpPr>
        <p:spPr>
          <a:xfrm>
            <a:off x="3383280" y="219456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0" name="Text 8"/>
          <p:cNvSpPr txBox="1"/>
          <p:nvPr/>
        </p:nvSpPr>
        <p:spPr>
          <a:xfrm>
            <a:off x="3474720" y="235915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23.93</a:t>
            </a:r>
            <a:endParaRPr lang="en-US" sz="3000" dirty="0"/>
          </a:p>
        </p:txBody>
      </p:sp>
      <p:sp>
        <p:nvSpPr>
          <p:cNvPr id="11" name="Text 9"/>
          <p:cNvSpPr txBox="1"/>
          <p:nvPr/>
        </p:nvSpPr>
        <p:spPr>
          <a:xfrm>
            <a:off x="3474720" y="349849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Avg. Overall Score</a:t>
            </a:r>
            <a:endParaRPr lang="en-US" sz="1300" dirty="0"/>
          </a:p>
        </p:txBody>
      </p:sp>
      <p:sp>
        <p:nvSpPr>
          <p:cNvPr id="12" name="Shape 10"/>
          <p:cNvSpPr/>
          <p:nvPr/>
        </p:nvSpPr>
        <p:spPr>
          <a:xfrm>
            <a:off x="4485132" y="4242816"/>
            <a:ext cx="402336" cy="45720"/>
          </a:xfrm>
          <a:prstGeom prst="rect">
            <a:avLst/>
          </a:prstGeom>
          <a:solidFill>
            <a:srgbClr val="F2A93B"/>
          </a:solidFill>
          <a:ln/>
        </p:spPr>
      </p:sp>
      <p:sp>
        <p:nvSpPr>
          <p:cNvPr id="13" name="Shape 11"/>
          <p:cNvSpPr/>
          <p:nvPr/>
        </p:nvSpPr>
        <p:spPr>
          <a:xfrm>
            <a:off x="6217920" y="219456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4" name="Text 12"/>
          <p:cNvSpPr txBox="1"/>
          <p:nvPr/>
        </p:nvSpPr>
        <p:spPr>
          <a:xfrm>
            <a:off x="6309360" y="235915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3,403</a:t>
            </a:r>
            <a:endParaRPr lang="en-US" sz="3000" dirty="0"/>
          </a:p>
        </p:txBody>
      </p:sp>
      <p:sp>
        <p:nvSpPr>
          <p:cNvPr id="15" name="Text 13"/>
          <p:cNvSpPr txBox="1"/>
          <p:nvPr/>
        </p:nvSpPr>
        <p:spPr>
          <a:xfrm>
            <a:off x="6309360" y="349849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Total Universities</a:t>
            </a:r>
            <a:endParaRPr lang="en-US" sz="1300" dirty="0"/>
          </a:p>
        </p:txBody>
      </p:sp>
      <p:sp>
        <p:nvSpPr>
          <p:cNvPr id="16" name="Shape 14"/>
          <p:cNvSpPr/>
          <p:nvPr/>
        </p:nvSpPr>
        <p:spPr>
          <a:xfrm>
            <a:off x="7319772" y="4242816"/>
            <a:ext cx="402336" cy="45720"/>
          </a:xfrm>
          <a:prstGeom prst="rect">
            <a:avLst/>
          </a:prstGeom>
          <a:solidFill>
            <a:srgbClr val="F2A93B"/>
          </a:solidFill>
          <a:ln/>
        </p:spPr>
      </p:sp>
      <p:sp>
        <p:nvSpPr>
          <p:cNvPr id="17" name="Shape 15"/>
          <p:cNvSpPr/>
          <p:nvPr/>
        </p:nvSpPr>
        <p:spPr>
          <a:xfrm>
            <a:off x="9052560" y="2194560"/>
            <a:ext cx="2606040" cy="2103120"/>
          </a:xfrm>
          <a:prstGeom prst="roundRect">
            <a:avLst>
              <a:gd name="adj" fmla="val 3478"/>
            </a:avLst>
          </a:prstGeom>
          <a:solidFill>
            <a:srgbClr val="F4F7FE"/>
          </a:solidFill>
          <a:ln/>
          <a:effectLst>
            <a:outerShdw sx="100000" sy="100000" kx="0" ky="0" algn="bl" rotWithShape="0" blurRad="76200" dist="25400" dir="5400000">
              <a:srgbClr val="8896B8">
                <a:alpha val="25000"/>
              </a:srgbClr>
            </a:outerShdw>
          </a:effectLst>
        </p:spPr>
      </p:sp>
      <p:sp>
        <p:nvSpPr>
          <p:cNvPr id="18" name="Text 16"/>
          <p:cNvSpPr txBox="1"/>
          <p:nvPr/>
        </p:nvSpPr>
        <p:spPr>
          <a:xfrm>
            <a:off x="9144000" y="2359152"/>
            <a:ext cx="2423160" cy="115671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5</a:t>
            </a:r>
            <a:endParaRPr lang="en-US" sz="3000" dirty="0"/>
          </a:p>
        </p:txBody>
      </p:sp>
      <p:sp>
        <p:nvSpPr>
          <p:cNvPr id="19" name="Text 17"/>
          <p:cNvSpPr txBox="1"/>
          <p:nvPr/>
        </p:nvSpPr>
        <p:spPr>
          <a:xfrm>
            <a:off x="9144000" y="3498494"/>
            <a:ext cx="2423160" cy="715061"/>
          </a:xfrm>
          <a:prstGeom prst="rect">
            <a:avLst/>
          </a:prstGeom>
          <a:noFill/>
          <a:ln/>
        </p:spPr>
        <p:txBody>
          <a:bodyPr wrap="square" lIns="0" tIns="0" rIns="0" bIns="0" rtlCol="0" anchor="t"/>
          <a:lstStyle/>
          <a:p>
            <a:pPr algn="ctr" indent="0" marL="0">
              <a:buNone/>
            </a:pPr>
            <a:r>
              <a:rPr lang="en-US" sz="1300" dirty="0">
                <a:solidFill>
                  <a:srgbClr val="5B6B8C"/>
                </a:solidFill>
                <a:latin typeface="Calibri" pitchFamily="34" charset="0"/>
                <a:ea typeface="Calibri" pitchFamily="34" charset="-122"/>
                <a:cs typeface="Calibri" pitchFamily="34" charset="-120"/>
              </a:rPr>
              <a:t>Total Regions</a:t>
            </a:r>
            <a:endParaRPr lang="en-US" sz="1300" dirty="0"/>
          </a:p>
        </p:txBody>
      </p:sp>
      <p:sp>
        <p:nvSpPr>
          <p:cNvPr id="20" name="Shape 18"/>
          <p:cNvSpPr/>
          <p:nvPr/>
        </p:nvSpPr>
        <p:spPr>
          <a:xfrm>
            <a:off x="10154412" y="4242816"/>
            <a:ext cx="402336" cy="45720"/>
          </a:xfrm>
          <a:prstGeom prst="rect">
            <a:avLst/>
          </a:prstGeom>
          <a:solidFill>
            <a:srgbClr val="F2A93B"/>
          </a:solidFill>
          <a:ln/>
        </p:spPr>
      </p:sp>
      <p:sp>
        <p:nvSpPr>
          <p:cNvPr id="21" name="Text 19"/>
          <p:cNvSpPr txBox="1"/>
          <p:nvPr/>
        </p:nvSpPr>
        <p:spPr>
          <a:xfrm>
            <a:off x="548640" y="4663440"/>
            <a:ext cx="10515600" cy="1097280"/>
          </a:xfrm>
          <a:prstGeom prst="rect">
            <a:avLst/>
          </a:prstGeom>
          <a:noFill/>
          <a:ln/>
        </p:spPr>
        <p:txBody>
          <a:bodyPr wrap="square" lIns="0" tIns="0" rIns="0" bIns="0" rtlCol="0" anchor="ctr"/>
          <a:lstStyle/>
          <a:p>
            <a:pPr indent="0" marL="0">
              <a:lnSpc>
                <a:spcPct val="135000"/>
              </a:lnSpc>
              <a:buNone/>
            </a:pPr>
            <a:r>
              <a:rPr lang="en-US" sz="1450" dirty="0">
                <a:solidFill>
                  <a:srgbClr val="1E2761"/>
                </a:solidFill>
                <a:latin typeface="Calibri" pitchFamily="34" charset="0"/>
                <a:ea typeface="Calibri" pitchFamily="34" charset="-122"/>
                <a:cs typeface="Calibri" pitchFamily="34" charset="-120"/>
              </a:rPr>
              <a:t>These are the same-style summary cards as before, but now the lens is the country, not the individual university.</a:t>
            </a:r>
            <a:endParaRPr lang="en-US" sz="1450" dirty="0"/>
          </a:p>
        </p:txBody>
      </p:sp>
      <p:sp>
        <p:nvSpPr>
          <p:cNvPr id="22" name="Text 2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23"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SECTION D</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Top countries and regions</a:t>
            </a:r>
            <a:endParaRPr lang="en-US" sz="3200" dirty="0"/>
          </a:p>
        </p:txBody>
      </p:sp>
      <p:sp>
        <p:nvSpPr>
          <p:cNvPr id="4" name="Text 2"/>
          <p:cNvSpPr txBox="1"/>
          <p:nvPr/>
        </p:nvSpPr>
        <p:spPr>
          <a:xfrm>
            <a:off x="548640" y="1417320"/>
            <a:ext cx="5120640" cy="320040"/>
          </a:xfrm>
          <a:prstGeom prst="rect">
            <a:avLst/>
          </a:prstGeom>
          <a:noFill/>
          <a:ln/>
        </p:spPr>
        <p:txBody>
          <a:bodyPr wrap="square" lIns="0" tIns="0" rIns="0" bIns="0" rtlCol="0" anchor="ctr"/>
          <a:lstStyle/>
          <a:p>
            <a:pPr indent="0" marL="0">
              <a:buNone/>
            </a:pPr>
            <a:r>
              <a:rPr lang="en-US" sz="1300" b="1" dirty="0">
                <a:solidFill>
                  <a:srgbClr val="5B6B8C"/>
                </a:solidFill>
                <a:latin typeface="Calibri" pitchFamily="34" charset="0"/>
                <a:ea typeface="Calibri" pitchFamily="34" charset="-122"/>
                <a:cs typeface="Calibri" pitchFamily="34" charset="-120"/>
              </a:rPr>
              <a:t>Countries ranked by average overall score</a:t>
            </a:r>
            <a:endParaRPr lang="en-US" sz="1300" dirty="0"/>
          </a:p>
        </p:txBody>
      </p:sp>
      <p:sp>
        <p:nvSpPr>
          <p:cNvPr id="5" name="Shape 3"/>
          <p:cNvSpPr/>
          <p:nvPr/>
        </p:nvSpPr>
        <p:spPr>
          <a:xfrm>
            <a:off x="548640" y="1828800"/>
            <a:ext cx="5120640" cy="530352"/>
          </a:xfrm>
          <a:prstGeom prst="roundRect">
            <a:avLst>
              <a:gd name="adj" fmla="val 10345"/>
            </a:avLst>
          </a:prstGeom>
          <a:solidFill>
            <a:srgbClr val="F4F7FE"/>
          </a:solidFill>
          <a:ln w="12700">
            <a:solidFill>
              <a:srgbClr val="E2E8F7"/>
            </a:solidFill>
            <a:prstDash val="solid"/>
          </a:ln>
        </p:spPr>
      </p:sp>
      <p:sp>
        <p:nvSpPr>
          <p:cNvPr id="6" name="Shape 4"/>
          <p:cNvSpPr/>
          <p:nvPr/>
        </p:nvSpPr>
        <p:spPr>
          <a:xfrm>
            <a:off x="676656" y="1892808"/>
            <a:ext cx="402336" cy="402336"/>
          </a:xfrm>
          <a:prstGeom prst="ellipse">
            <a:avLst/>
          </a:prstGeom>
          <a:solidFill>
            <a:srgbClr val="F2A93B"/>
          </a:solidFill>
          <a:ln/>
        </p:spPr>
      </p:sp>
      <p:sp>
        <p:nvSpPr>
          <p:cNvPr id="7" name="Text 5"/>
          <p:cNvSpPr txBox="1"/>
          <p:nvPr/>
        </p:nvSpPr>
        <p:spPr>
          <a:xfrm>
            <a:off x="676656" y="189280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225296" y="1828800"/>
            <a:ext cx="274320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Cyprus</a:t>
            </a:r>
            <a:endParaRPr lang="en-US" sz="1500" dirty="0"/>
          </a:p>
        </p:txBody>
      </p:sp>
      <p:sp>
        <p:nvSpPr>
          <p:cNvPr id="9" name="Shape 7"/>
          <p:cNvSpPr/>
          <p:nvPr/>
        </p:nvSpPr>
        <p:spPr>
          <a:xfrm>
            <a:off x="548640" y="2468880"/>
            <a:ext cx="5120640" cy="530352"/>
          </a:xfrm>
          <a:prstGeom prst="roundRect">
            <a:avLst>
              <a:gd name="adj" fmla="val 10345"/>
            </a:avLst>
          </a:prstGeom>
          <a:solidFill>
            <a:srgbClr val="FFFFFF"/>
          </a:solidFill>
          <a:ln w="12700">
            <a:solidFill>
              <a:srgbClr val="E2E8F7"/>
            </a:solidFill>
            <a:prstDash val="solid"/>
          </a:ln>
        </p:spPr>
      </p:sp>
      <p:sp>
        <p:nvSpPr>
          <p:cNvPr id="10" name="Shape 8"/>
          <p:cNvSpPr/>
          <p:nvPr/>
        </p:nvSpPr>
        <p:spPr>
          <a:xfrm>
            <a:off x="676656" y="2532888"/>
            <a:ext cx="402336" cy="402336"/>
          </a:xfrm>
          <a:prstGeom prst="ellipse">
            <a:avLst/>
          </a:prstGeom>
          <a:solidFill>
            <a:srgbClr val="F2A93B"/>
          </a:solidFill>
          <a:ln/>
        </p:spPr>
      </p:sp>
      <p:sp>
        <p:nvSpPr>
          <p:cNvPr id="11" name="Text 9"/>
          <p:cNvSpPr txBox="1"/>
          <p:nvPr/>
        </p:nvSpPr>
        <p:spPr>
          <a:xfrm>
            <a:off x="676656" y="253288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225296" y="2468880"/>
            <a:ext cx="274320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Hong Kong SAR</a:t>
            </a:r>
            <a:endParaRPr lang="en-US" sz="1500" dirty="0"/>
          </a:p>
        </p:txBody>
      </p:sp>
      <p:sp>
        <p:nvSpPr>
          <p:cNvPr id="13" name="Shape 11"/>
          <p:cNvSpPr/>
          <p:nvPr/>
        </p:nvSpPr>
        <p:spPr>
          <a:xfrm>
            <a:off x="548640" y="3108960"/>
            <a:ext cx="5120640" cy="530352"/>
          </a:xfrm>
          <a:prstGeom prst="roundRect">
            <a:avLst>
              <a:gd name="adj" fmla="val 10345"/>
            </a:avLst>
          </a:prstGeom>
          <a:solidFill>
            <a:srgbClr val="F4F7FE"/>
          </a:solidFill>
          <a:ln w="12700">
            <a:solidFill>
              <a:srgbClr val="E2E8F7"/>
            </a:solidFill>
            <a:prstDash val="solid"/>
          </a:ln>
        </p:spPr>
      </p:sp>
      <p:sp>
        <p:nvSpPr>
          <p:cNvPr id="14" name="Shape 12"/>
          <p:cNvSpPr/>
          <p:nvPr/>
        </p:nvSpPr>
        <p:spPr>
          <a:xfrm>
            <a:off x="676656" y="3172968"/>
            <a:ext cx="402336" cy="402336"/>
          </a:xfrm>
          <a:prstGeom prst="ellipse">
            <a:avLst/>
          </a:prstGeom>
          <a:solidFill>
            <a:srgbClr val="F2A93B"/>
          </a:solidFill>
          <a:ln/>
        </p:spPr>
      </p:sp>
      <p:sp>
        <p:nvSpPr>
          <p:cNvPr id="15" name="Text 13"/>
          <p:cNvSpPr txBox="1"/>
          <p:nvPr/>
        </p:nvSpPr>
        <p:spPr>
          <a:xfrm>
            <a:off x="676656" y="317296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225296" y="3108960"/>
            <a:ext cx="274320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Macau SAR</a:t>
            </a:r>
            <a:endParaRPr lang="en-US" sz="1500" dirty="0"/>
          </a:p>
        </p:txBody>
      </p:sp>
      <p:sp>
        <p:nvSpPr>
          <p:cNvPr id="17" name="Shape 15"/>
          <p:cNvSpPr/>
          <p:nvPr/>
        </p:nvSpPr>
        <p:spPr>
          <a:xfrm>
            <a:off x="548640" y="3749040"/>
            <a:ext cx="5120640" cy="530352"/>
          </a:xfrm>
          <a:prstGeom prst="roundRect">
            <a:avLst>
              <a:gd name="adj" fmla="val 10345"/>
            </a:avLst>
          </a:prstGeom>
          <a:solidFill>
            <a:srgbClr val="FFFFFF"/>
          </a:solidFill>
          <a:ln w="12700">
            <a:solidFill>
              <a:srgbClr val="E2E8F7"/>
            </a:solidFill>
            <a:prstDash val="solid"/>
          </a:ln>
        </p:spPr>
      </p:sp>
      <p:sp>
        <p:nvSpPr>
          <p:cNvPr id="18" name="Shape 16"/>
          <p:cNvSpPr/>
          <p:nvPr/>
        </p:nvSpPr>
        <p:spPr>
          <a:xfrm>
            <a:off x="676656" y="3813048"/>
            <a:ext cx="402336" cy="402336"/>
          </a:xfrm>
          <a:prstGeom prst="ellipse">
            <a:avLst/>
          </a:prstGeom>
          <a:solidFill>
            <a:srgbClr val="CADCFC"/>
          </a:solidFill>
          <a:ln/>
        </p:spPr>
      </p:sp>
      <p:sp>
        <p:nvSpPr>
          <p:cNvPr id="19" name="Text 17"/>
          <p:cNvSpPr txBox="1"/>
          <p:nvPr/>
        </p:nvSpPr>
        <p:spPr>
          <a:xfrm>
            <a:off x="676656" y="381304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4</a:t>
            </a:r>
            <a:endParaRPr lang="en-US" sz="1600" dirty="0"/>
          </a:p>
        </p:txBody>
      </p:sp>
      <p:sp>
        <p:nvSpPr>
          <p:cNvPr id="20" name="Text 18"/>
          <p:cNvSpPr txBox="1"/>
          <p:nvPr/>
        </p:nvSpPr>
        <p:spPr>
          <a:xfrm>
            <a:off x="1225296" y="3749040"/>
            <a:ext cx="274320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Switzerland</a:t>
            </a:r>
            <a:endParaRPr lang="en-US" sz="1500" dirty="0"/>
          </a:p>
        </p:txBody>
      </p:sp>
      <p:sp>
        <p:nvSpPr>
          <p:cNvPr id="21" name="Shape 19"/>
          <p:cNvSpPr/>
          <p:nvPr/>
        </p:nvSpPr>
        <p:spPr>
          <a:xfrm>
            <a:off x="548640" y="4389120"/>
            <a:ext cx="5120640" cy="530352"/>
          </a:xfrm>
          <a:prstGeom prst="roundRect">
            <a:avLst>
              <a:gd name="adj" fmla="val 10345"/>
            </a:avLst>
          </a:prstGeom>
          <a:solidFill>
            <a:srgbClr val="F4F7FE"/>
          </a:solidFill>
          <a:ln w="12700">
            <a:solidFill>
              <a:srgbClr val="E2E8F7"/>
            </a:solidFill>
            <a:prstDash val="solid"/>
          </a:ln>
        </p:spPr>
      </p:sp>
      <p:sp>
        <p:nvSpPr>
          <p:cNvPr id="22" name="Shape 20"/>
          <p:cNvSpPr/>
          <p:nvPr/>
        </p:nvSpPr>
        <p:spPr>
          <a:xfrm>
            <a:off x="676656" y="4453128"/>
            <a:ext cx="402336" cy="402336"/>
          </a:xfrm>
          <a:prstGeom prst="ellipse">
            <a:avLst/>
          </a:prstGeom>
          <a:solidFill>
            <a:srgbClr val="CADCFC"/>
          </a:solidFill>
          <a:ln/>
        </p:spPr>
      </p:sp>
      <p:sp>
        <p:nvSpPr>
          <p:cNvPr id="23" name="Text 21"/>
          <p:cNvSpPr txBox="1"/>
          <p:nvPr/>
        </p:nvSpPr>
        <p:spPr>
          <a:xfrm>
            <a:off x="676656" y="445312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5</a:t>
            </a:r>
            <a:endParaRPr lang="en-US" sz="1600" dirty="0"/>
          </a:p>
        </p:txBody>
      </p:sp>
      <p:sp>
        <p:nvSpPr>
          <p:cNvPr id="24" name="Text 22"/>
          <p:cNvSpPr txBox="1"/>
          <p:nvPr/>
        </p:nvSpPr>
        <p:spPr>
          <a:xfrm>
            <a:off x="1225296" y="4389120"/>
            <a:ext cx="274320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Singapore</a:t>
            </a:r>
            <a:endParaRPr lang="en-US" sz="1500" dirty="0"/>
          </a:p>
        </p:txBody>
      </p:sp>
      <p:sp>
        <p:nvSpPr>
          <p:cNvPr id="25" name="Shape 23"/>
          <p:cNvSpPr/>
          <p:nvPr/>
        </p:nvSpPr>
        <p:spPr>
          <a:xfrm>
            <a:off x="548640" y="5029200"/>
            <a:ext cx="5120640" cy="530352"/>
          </a:xfrm>
          <a:prstGeom prst="roundRect">
            <a:avLst>
              <a:gd name="adj" fmla="val 10345"/>
            </a:avLst>
          </a:prstGeom>
          <a:solidFill>
            <a:srgbClr val="FFFFFF"/>
          </a:solidFill>
          <a:ln w="12700">
            <a:solidFill>
              <a:srgbClr val="E2E8F7"/>
            </a:solidFill>
            <a:prstDash val="solid"/>
          </a:ln>
        </p:spPr>
      </p:sp>
      <p:sp>
        <p:nvSpPr>
          <p:cNvPr id="26" name="Shape 24"/>
          <p:cNvSpPr/>
          <p:nvPr/>
        </p:nvSpPr>
        <p:spPr>
          <a:xfrm>
            <a:off x="676656" y="5093208"/>
            <a:ext cx="402336" cy="402336"/>
          </a:xfrm>
          <a:prstGeom prst="ellipse">
            <a:avLst/>
          </a:prstGeom>
          <a:solidFill>
            <a:srgbClr val="CADCFC"/>
          </a:solidFill>
          <a:ln/>
        </p:spPr>
      </p:sp>
      <p:sp>
        <p:nvSpPr>
          <p:cNvPr id="27" name="Text 25"/>
          <p:cNvSpPr txBox="1"/>
          <p:nvPr/>
        </p:nvSpPr>
        <p:spPr>
          <a:xfrm>
            <a:off x="676656" y="509320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6</a:t>
            </a:r>
            <a:endParaRPr lang="en-US" sz="1600" dirty="0"/>
          </a:p>
        </p:txBody>
      </p:sp>
      <p:sp>
        <p:nvSpPr>
          <p:cNvPr id="28" name="Text 26"/>
          <p:cNvSpPr txBox="1"/>
          <p:nvPr/>
        </p:nvSpPr>
        <p:spPr>
          <a:xfrm>
            <a:off x="1225296" y="5029200"/>
            <a:ext cx="274320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Iran</a:t>
            </a:r>
            <a:endParaRPr lang="en-US" sz="1500" dirty="0"/>
          </a:p>
        </p:txBody>
      </p:sp>
      <p:sp>
        <p:nvSpPr>
          <p:cNvPr id="29" name="Text 27"/>
          <p:cNvSpPr txBox="1"/>
          <p:nvPr/>
        </p:nvSpPr>
        <p:spPr>
          <a:xfrm>
            <a:off x="6309360" y="1417320"/>
            <a:ext cx="5303520" cy="320040"/>
          </a:xfrm>
          <a:prstGeom prst="rect">
            <a:avLst/>
          </a:prstGeom>
          <a:noFill/>
          <a:ln/>
        </p:spPr>
        <p:txBody>
          <a:bodyPr wrap="square" lIns="0" tIns="0" rIns="0" bIns="0" rtlCol="0" anchor="ctr"/>
          <a:lstStyle/>
          <a:p>
            <a:pPr indent="0" marL="0">
              <a:buNone/>
            </a:pPr>
            <a:r>
              <a:rPr lang="en-US" sz="1300" b="1" dirty="0">
                <a:solidFill>
                  <a:srgbClr val="5B6B8C"/>
                </a:solidFill>
                <a:latin typeface="Calibri" pitchFamily="34" charset="0"/>
                <a:ea typeface="Calibri" pitchFamily="34" charset="-122"/>
                <a:cs typeface="Calibri" pitchFamily="34" charset="-120"/>
              </a:rPr>
              <a:t>Regions ranked by average overall score</a:t>
            </a:r>
            <a:endParaRPr lang="en-US" sz="1300" dirty="0"/>
          </a:p>
        </p:txBody>
      </p:sp>
      <p:sp>
        <p:nvSpPr>
          <p:cNvPr id="30" name="Shape 28"/>
          <p:cNvSpPr/>
          <p:nvPr/>
        </p:nvSpPr>
        <p:spPr>
          <a:xfrm>
            <a:off x="6309360" y="1828800"/>
            <a:ext cx="5303520" cy="530352"/>
          </a:xfrm>
          <a:prstGeom prst="roundRect">
            <a:avLst>
              <a:gd name="adj" fmla="val 10345"/>
            </a:avLst>
          </a:prstGeom>
          <a:solidFill>
            <a:srgbClr val="F4F7FE"/>
          </a:solidFill>
          <a:ln w="12700">
            <a:solidFill>
              <a:srgbClr val="E2E8F7"/>
            </a:solidFill>
            <a:prstDash val="solid"/>
          </a:ln>
        </p:spPr>
      </p:sp>
      <p:sp>
        <p:nvSpPr>
          <p:cNvPr id="31" name="Shape 29"/>
          <p:cNvSpPr/>
          <p:nvPr/>
        </p:nvSpPr>
        <p:spPr>
          <a:xfrm>
            <a:off x="6437376" y="1892808"/>
            <a:ext cx="402336" cy="402336"/>
          </a:xfrm>
          <a:prstGeom prst="ellipse">
            <a:avLst/>
          </a:prstGeom>
          <a:solidFill>
            <a:srgbClr val="F2A93B"/>
          </a:solidFill>
          <a:ln/>
        </p:spPr>
      </p:sp>
      <p:sp>
        <p:nvSpPr>
          <p:cNvPr id="32" name="Text 30"/>
          <p:cNvSpPr txBox="1"/>
          <p:nvPr/>
        </p:nvSpPr>
        <p:spPr>
          <a:xfrm>
            <a:off x="6437376" y="189280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33" name="Text 31"/>
          <p:cNvSpPr txBox="1"/>
          <p:nvPr/>
        </p:nvSpPr>
        <p:spPr>
          <a:xfrm>
            <a:off x="6986016" y="1828800"/>
            <a:ext cx="292608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Oceania</a:t>
            </a:r>
            <a:endParaRPr lang="en-US" sz="1500" dirty="0"/>
          </a:p>
        </p:txBody>
      </p:sp>
      <p:sp>
        <p:nvSpPr>
          <p:cNvPr id="34" name="Text 32"/>
          <p:cNvSpPr txBox="1"/>
          <p:nvPr/>
        </p:nvSpPr>
        <p:spPr>
          <a:xfrm>
            <a:off x="9875520" y="1828800"/>
            <a:ext cx="1645920" cy="530352"/>
          </a:xfrm>
          <a:prstGeom prst="rect">
            <a:avLst/>
          </a:prstGeom>
          <a:noFill/>
          <a:ln/>
        </p:spPr>
        <p:txBody>
          <a:bodyPr wrap="square" lIns="0" tIns="0" rIns="0" bIns="0" rtlCol="0" anchor="ctr"/>
          <a:lstStyle/>
          <a:p>
            <a:pPr algn="r" indent="0" marL="0">
              <a:buNone/>
            </a:pPr>
            <a:r>
              <a:rPr lang="en-US" sz="1200" i="1" dirty="0">
                <a:solidFill>
                  <a:srgbClr val="5B6B8C"/>
                </a:solidFill>
                <a:latin typeface="Calibri" pitchFamily="34" charset="0"/>
                <a:ea typeface="Calibri" pitchFamily="34" charset="-122"/>
                <a:cs typeface="Calibri" pitchFamily="34" charset="-120"/>
              </a:rPr>
              <a:t>Highest</a:t>
            </a:r>
            <a:endParaRPr lang="en-US" sz="1200" dirty="0"/>
          </a:p>
        </p:txBody>
      </p:sp>
      <p:sp>
        <p:nvSpPr>
          <p:cNvPr id="35" name="Shape 33"/>
          <p:cNvSpPr/>
          <p:nvPr/>
        </p:nvSpPr>
        <p:spPr>
          <a:xfrm>
            <a:off x="6309360" y="2468880"/>
            <a:ext cx="5303520" cy="530352"/>
          </a:xfrm>
          <a:prstGeom prst="roundRect">
            <a:avLst>
              <a:gd name="adj" fmla="val 10345"/>
            </a:avLst>
          </a:prstGeom>
          <a:solidFill>
            <a:srgbClr val="FFFFFF"/>
          </a:solidFill>
          <a:ln w="12700">
            <a:solidFill>
              <a:srgbClr val="E2E8F7"/>
            </a:solidFill>
            <a:prstDash val="solid"/>
          </a:ln>
        </p:spPr>
      </p:sp>
      <p:sp>
        <p:nvSpPr>
          <p:cNvPr id="36" name="Shape 34"/>
          <p:cNvSpPr/>
          <p:nvPr/>
        </p:nvSpPr>
        <p:spPr>
          <a:xfrm>
            <a:off x="6437376" y="2532888"/>
            <a:ext cx="402336" cy="402336"/>
          </a:xfrm>
          <a:prstGeom prst="ellipse">
            <a:avLst/>
          </a:prstGeom>
          <a:solidFill>
            <a:srgbClr val="F2A93B"/>
          </a:solidFill>
          <a:ln/>
        </p:spPr>
      </p:sp>
      <p:sp>
        <p:nvSpPr>
          <p:cNvPr id="37" name="Text 35"/>
          <p:cNvSpPr txBox="1"/>
          <p:nvPr/>
        </p:nvSpPr>
        <p:spPr>
          <a:xfrm>
            <a:off x="6437376" y="253288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38" name="Text 36"/>
          <p:cNvSpPr txBox="1"/>
          <p:nvPr/>
        </p:nvSpPr>
        <p:spPr>
          <a:xfrm>
            <a:off x="6986016" y="2468880"/>
            <a:ext cx="292608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Europe</a:t>
            </a:r>
            <a:endParaRPr lang="en-US" sz="1500" dirty="0"/>
          </a:p>
        </p:txBody>
      </p:sp>
      <p:sp>
        <p:nvSpPr>
          <p:cNvPr id="39" name="Shape 37"/>
          <p:cNvSpPr/>
          <p:nvPr/>
        </p:nvSpPr>
        <p:spPr>
          <a:xfrm>
            <a:off x="6309360" y="3108960"/>
            <a:ext cx="5303520" cy="530352"/>
          </a:xfrm>
          <a:prstGeom prst="roundRect">
            <a:avLst>
              <a:gd name="adj" fmla="val 10345"/>
            </a:avLst>
          </a:prstGeom>
          <a:solidFill>
            <a:srgbClr val="F4F7FE"/>
          </a:solidFill>
          <a:ln w="12700">
            <a:solidFill>
              <a:srgbClr val="E2E8F7"/>
            </a:solidFill>
            <a:prstDash val="solid"/>
          </a:ln>
        </p:spPr>
      </p:sp>
      <p:sp>
        <p:nvSpPr>
          <p:cNvPr id="40" name="Shape 38"/>
          <p:cNvSpPr/>
          <p:nvPr/>
        </p:nvSpPr>
        <p:spPr>
          <a:xfrm>
            <a:off x="6437376" y="3172968"/>
            <a:ext cx="402336" cy="402336"/>
          </a:xfrm>
          <a:prstGeom prst="ellipse">
            <a:avLst/>
          </a:prstGeom>
          <a:solidFill>
            <a:srgbClr val="F2A93B"/>
          </a:solidFill>
          <a:ln/>
        </p:spPr>
      </p:sp>
      <p:sp>
        <p:nvSpPr>
          <p:cNvPr id="41" name="Text 39"/>
          <p:cNvSpPr txBox="1"/>
          <p:nvPr/>
        </p:nvSpPr>
        <p:spPr>
          <a:xfrm>
            <a:off x="6437376" y="317296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42" name="Text 40"/>
          <p:cNvSpPr txBox="1"/>
          <p:nvPr/>
        </p:nvSpPr>
        <p:spPr>
          <a:xfrm>
            <a:off x="6986016" y="3108960"/>
            <a:ext cx="292608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North America</a:t>
            </a:r>
            <a:endParaRPr lang="en-US" sz="1500" dirty="0"/>
          </a:p>
        </p:txBody>
      </p:sp>
      <p:sp>
        <p:nvSpPr>
          <p:cNvPr id="43" name="Shape 41"/>
          <p:cNvSpPr/>
          <p:nvPr/>
        </p:nvSpPr>
        <p:spPr>
          <a:xfrm>
            <a:off x="6309360" y="3749040"/>
            <a:ext cx="5303520" cy="530352"/>
          </a:xfrm>
          <a:prstGeom prst="roundRect">
            <a:avLst>
              <a:gd name="adj" fmla="val 10345"/>
            </a:avLst>
          </a:prstGeom>
          <a:solidFill>
            <a:srgbClr val="FFFFFF"/>
          </a:solidFill>
          <a:ln w="12700">
            <a:solidFill>
              <a:srgbClr val="E2E8F7"/>
            </a:solidFill>
            <a:prstDash val="solid"/>
          </a:ln>
        </p:spPr>
      </p:sp>
      <p:sp>
        <p:nvSpPr>
          <p:cNvPr id="44" name="Shape 42"/>
          <p:cNvSpPr/>
          <p:nvPr/>
        </p:nvSpPr>
        <p:spPr>
          <a:xfrm>
            <a:off x="6437376" y="3813048"/>
            <a:ext cx="402336" cy="402336"/>
          </a:xfrm>
          <a:prstGeom prst="ellipse">
            <a:avLst/>
          </a:prstGeom>
          <a:solidFill>
            <a:srgbClr val="CADCFC"/>
          </a:solidFill>
          <a:ln/>
        </p:spPr>
      </p:sp>
      <p:sp>
        <p:nvSpPr>
          <p:cNvPr id="45" name="Text 43"/>
          <p:cNvSpPr txBox="1"/>
          <p:nvPr/>
        </p:nvSpPr>
        <p:spPr>
          <a:xfrm>
            <a:off x="6437376" y="381304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4</a:t>
            </a:r>
            <a:endParaRPr lang="en-US" sz="1600" dirty="0"/>
          </a:p>
        </p:txBody>
      </p:sp>
      <p:sp>
        <p:nvSpPr>
          <p:cNvPr id="46" name="Text 44"/>
          <p:cNvSpPr txBox="1"/>
          <p:nvPr/>
        </p:nvSpPr>
        <p:spPr>
          <a:xfrm>
            <a:off x="6986016" y="3749040"/>
            <a:ext cx="292608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Asia</a:t>
            </a:r>
            <a:endParaRPr lang="en-US" sz="1500" dirty="0"/>
          </a:p>
        </p:txBody>
      </p:sp>
      <p:sp>
        <p:nvSpPr>
          <p:cNvPr id="47" name="Shape 45"/>
          <p:cNvSpPr/>
          <p:nvPr/>
        </p:nvSpPr>
        <p:spPr>
          <a:xfrm>
            <a:off x="6309360" y="4389120"/>
            <a:ext cx="5303520" cy="530352"/>
          </a:xfrm>
          <a:prstGeom prst="roundRect">
            <a:avLst>
              <a:gd name="adj" fmla="val 10345"/>
            </a:avLst>
          </a:prstGeom>
          <a:solidFill>
            <a:srgbClr val="F4F7FE"/>
          </a:solidFill>
          <a:ln w="12700">
            <a:solidFill>
              <a:srgbClr val="E2E8F7"/>
            </a:solidFill>
            <a:prstDash val="solid"/>
          </a:ln>
        </p:spPr>
      </p:sp>
      <p:sp>
        <p:nvSpPr>
          <p:cNvPr id="48" name="Shape 46"/>
          <p:cNvSpPr/>
          <p:nvPr/>
        </p:nvSpPr>
        <p:spPr>
          <a:xfrm>
            <a:off x="6437376" y="4453128"/>
            <a:ext cx="402336" cy="402336"/>
          </a:xfrm>
          <a:prstGeom prst="ellipse">
            <a:avLst/>
          </a:prstGeom>
          <a:solidFill>
            <a:srgbClr val="CADCFC"/>
          </a:solidFill>
          <a:ln/>
        </p:spPr>
      </p:sp>
      <p:sp>
        <p:nvSpPr>
          <p:cNvPr id="49" name="Text 47"/>
          <p:cNvSpPr txBox="1"/>
          <p:nvPr/>
        </p:nvSpPr>
        <p:spPr>
          <a:xfrm>
            <a:off x="6437376" y="4453128"/>
            <a:ext cx="402336" cy="402336"/>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5</a:t>
            </a:r>
            <a:endParaRPr lang="en-US" sz="1600" dirty="0"/>
          </a:p>
        </p:txBody>
      </p:sp>
      <p:sp>
        <p:nvSpPr>
          <p:cNvPr id="50" name="Text 48"/>
          <p:cNvSpPr txBox="1"/>
          <p:nvPr/>
        </p:nvSpPr>
        <p:spPr>
          <a:xfrm>
            <a:off x="6986016" y="4389120"/>
            <a:ext cx="2926080" cy="53035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Others</a:t>
            </a:r>
            <a:endParaRPr lang="en-US" sz="1500" dirty="0"/>
          </a:p>
        </p:txBody>
      </p:sp>
      <p:sp>
        <p:nvSpPr>
          <p:cNvPr id="51" name="Text 49"/>
          <p:cNvSpPr txBox="1"/>
          <p:nvPr/>
        </p:nvSpPr>
        <p:spPr>
          <a:xfrm>
            <a:off x="9875520" y="4389120"/>
            <a:ext cx="1645920" cy="530352"/>
          </a:xfrm>
          <a:prstGeom prst="rect">
            <a:avLst/>
          </a:prstGeom>
          <a:noFill/>
          <a:ln/>
        </p:spPr>
        <p:txBody>
          <a:bodyPr wrap="square" lIns="0" tIns="0" rIns="0" bIns="0" rtlCol="0" anchor="ctr"/>
          <a:lstStyle/>
          <a:p>
            <a:pPr algn="r" indent="0" marL="0">
              <a:buNone/>
            </a:pPr>
            <a:r>
              <a:rPr lang="en-US" sz="1200" i="1" dirty="0">
                <a:solidFill>
                  <a:srgbClr val="5B6B8C"/>
                </a:solidFill>
                <a:latin typeface="Calibri" pitchFamily="34" charset="0"/>
                <a:ea typeface="Calibri" pitchFamily="34" charset="-122"/>
                <a:cs typeface="Calibri" pitchFamily="34" charset="-120"/>
              </a:rPr>
              <a:t>Lowest</a:t>
            </a:r>
            <a:endParaRPr lang="en-US" sz="1200" dirty="0"/>
          </a:p>
        </p:txBody>
      </p:sp>
      <p:sp>
        <p:nvSpPr>
          <p:cNvPr id="52" name="Text 5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53" name="Text 5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SUMMARY</a:t>
            </a:r>
            <a:endParaRPr lang="en-US" sz="14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548640" y="1600200"/>
            <a:ext cx="457200" cy="457200"/>
          </a:xfrm>
          <a:prstGeom prst="ellipse">
            <a:avLst/>
          </a:prstGeom>
          <a:solidFill>
            <a:srgbClr val="F2A93B"/>
          </a:solidFill>
          <a:ln/>
        </p:spPr>
      </p:sp>
      <p:sp>
        <p:nvSpPr>
          <p:cNvPr id="5" name="Text 3"/>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188720" y="1554480"/>
            <a:ext cx="102412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The dataset is large</a:t>
            </a:r>
            <a:endParaRPr lang="en-US" sz="1600" dirty="0"/>
          </a:p>
        </p:txBody>
      </p:sp>
      <p:sp>
        <p:nvSpPr>
          <p:cNvPr id="7" name="Text 5"/>
          <p:cNvSpPr txBox="1"/>
          <p:nvPr/>
        </p:nvSpPr>
        <p:spPr>
          <a:xfrm>
            <a:off x="1188720" y="1920240"/>
            <a:ext cx="10241280" cy="502920"/>
          </a:xfrm>
          <a:prstGeom prst="rect">
            <a:avLst/>
          </a:prstGeom>
          <a:noFill/>
          <a:ln/>
        </p:spPr>
        <p:txBody>
          <a:bodyPr wrap="square" lIns="0" tIns="0" rIns="0" bIns="0" rtlCol="0" anchor="ctr"/>
          <a:lstStyle/>
          <a:p>
            <a:pPr indent="0" marL="0">
              <a:lnSpc>
                <a:spcPct val="120000"/>
              </a:lnSpc>
              <a:buNone/>
            </a:pPr>
            <a:r>
              <a:rPr lang="en-US" sz="1350" dirty="0">
                <a:solidFill>
                  <a:srgbClr val="5B6B8C"/>
                </a:solidFill>
                <a:latin typeface="Calibri" pitchFamily="34" charset="0"/>
                <a:ea typeface="Calibri" pitchFamily="34" charset="-122"/>
                <a:cs typeface="Calibri" pitchFamily="34" charset="-120"/>
              </a:rPr>
              <a:t>Over 3,400 universities across 105 countries and 5 regions are covered.</a:t>
            </a:r>
            <a:endParaRPr lang="en-US" sz="1350" dirty="0"/>
          </a:p>
        </p:txBody>
      </p:sp>
      <p:sp>
        <p:nvSpPr>
          <p:cNvPr id="8" name="Shape 6"/>
          <p:cNvSpPr/>
          <p:nvPr/>
        </p:nvSpPr>
        <p:spPr>
          <a:xfrm>
            <a:off x="548640" y="2514600"/>
            <a:ext cx="457200" cy="457200"/>
          </a:xfrm>
          <a:prstGeom prst="ellipse">
            <a:avLst/>
          </a:prstGeom>
          <a:solidFill>
            <a:srgbClr val="F2A93B"/>
          </a:solidFill>
          <a:ln/>
        </p:spPr>
      </p:sp>
      <p:sp>
        <p:nvSpPr>
          <p:cNvPr id="9" name="Text 7"/>
          <p:cNvSpPr txBox="1"/>
          <p:nvPr/>
        </p:nvSpPr>
        <p:spPr>
          <a:xfrm>
            <a:off x="548640" y="2514600"/>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188720" y="2468880"/>
            <a:ext cx="102412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 few names lead in every view</a:t>
            </a:r>
            <a:endParaRPr lang="en-US" sz="1600" dirty="0"/>
          </a:p>
        </p:txBody>
      </p:sp>
      <p:sp>
        <p:nvSpPr>
          <p:cNvPr id="11" name="Text 9"/>
          <p:cNvSpPr txBox="1"/>
          <p:nvPr/>
        </p:nvSpPr>
        <p:spPr>
          <a:xfrm>
            <a:off x="1188720" y="2834640"/>
            <a:ext cx="10241280" cy="502920"/>
          </a:xfrm>
          <a:prstGeom prst="rect">
            <a:avLst/>
          </a:prstGeom>
          <a:noFill/>
          <a:ln/>
        </p:spPr>
        <p:txBody>
          <a:bodyPr wrap="square" lIns="0" tIns="0" rIns="0" bIns="0" rtlCol="0" anchor="ctr"/>
          <a:lstStyle/>
          <a:p>
            <a:pPr indent="0" marL="0">
              <a:lnSpc>
                <a:spcPct val="120000"/>
              </a:lnSpc>
              <a:buNone/>
            </a:pPr>
            <a:r>
              <a:rPr lang="en-US" sz="1350" dirty="0">
                <a:solidFill>
                  <a:srgbClr val="5B6B8C"/>
                </a:solidFill>
                <a:latin typeface="Calibri" pitchFamily="34" charset="0"/>
                <a:ea typeface="Calibri" pitchFamily="34" charset="-122"/>
                <a:cs typeface="Calibri" pitchFamily="34" charset="-120"/>
              </a:rPr>
              <a:t>MIT, Stanford, Harvard, and Oxford appear near the top for both general ranking and research.</a:t>
            </a:r>
            <a:endParaRPr lang="en-US" sz="1350" dirty="0"/>
          </a:p>
        </p:txBody>
      </p:sp>
      <p:sp>
        <p:nvSpPr>
          <p:cNvPr id="12" name="Shape 10"/>
          <p:cNvSpPr/>
          <p:nvPr/>
        </p:nvSpPr>
        <p:spPr>
          <a:xfrm>
            <a:off x="548640" y="3429000"/>
            <a:ext cx="457200" cy="457200"/>
          </a:xfrm>
          <a:prstGeom prst="ellipse">
            <a:avLst/>
          </a:prstGeom>
          <a:solidFill>
            <a:srgbClr val="F2A93B"/>
          </a:solidFill>
          <a:ln/>
        </p:spPr>
      </p:sp>
      <p:sp>
        <p:nvSpPr>
          <p:cNvPr id="13" name="Text 11"/>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188720" y="3383280"/>
            <a:ext cx="102412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Small places can score high</a:t>
            </a:r>
            <a:endParaRPr lang="en-US" sz="1600" dirty="0"/>
          </a:p>
        </p:txBody>
      </p:sp>
      <p:sp>
        <p:nvSpPr>
          <p:cNvPr id="15" name="Text 13"/>
          <p:cNvSpPr txBox="1"/>
          <p:nvPr/>
        </p:nvSpPr>
        <p:spPr>
          <a:xfrm>
            <a:off x="1188720" y="3749040"/>
            <a:ext cx="10241280" cy="502920"/>
          </a:xfrm>
          <a:prstGeom prst="rect">
            <a:avLst/>
          </a:prstGeom>
          <a:noFill/>
          <a:ln/>
        </p:spPr>
        <p:txBody>
          <a:bodyPr wrap="square" lIns="0" tIns="0" rIns="0" bIns="0" rtlCol="0" anchor="ctr"/>
          <a:lstStyle/>
          <a:p>
            <a:pPr indent="0" marL="0">
              <a:lnSpc>
                <a:spcPct val="120000"/>
              </a:lnSpc>
              <a:buNone/>
            </a:pPr>
            <a:r>
              <a:rPr lang="en-US" sz="1350" dirty="0">
                <a:solidFill>
                  <a:srgbClr val="5B6B8C"/>
                </a:solidFill>
                <a:latin typeface="Calibri" pitchFamily="34" charset="0"/>
                <a:ea typeface="Calibri" pitchFamily="34" charset="-122"/>
                <a:cs typeface="Calibri" pitchFamily="34" charset="-120"/>
              </a:rPr>
              <a:t>Countries like Cyprus, Hong Kong, and Singapore rank very well on research and overall scores relative to their size.</a:t>
            </a:r>
            <a:endParaRPr lang="en-US" sz="1350" dirty="0"/>
          </a:p>
        </p:txBody>
      </p:sp>
      <p:sp>
        <p:nvSpPr>
          <p:cNvPr id="16" name="Shape 14"/>
          <p:cNvSpPr/>
          <p:nvPr/>
        </p:nvSpPr>
        <p:spPr>
          <a:xfrm>
            <a:off x="548640" y="4343400"/>
            <a:ext cx="457200" cy="457200"/>
          </a:xfrm>
          <a:prstGeom prst="ellipse">
            <a:avLst/>
          </a:prstGeom>
          <a:solidFill>
            <a:srgbClr val="F2A93B"/>
          </a:solidFill>
          <a:ln/>
        </p:spPr>
      </p:sp>
      <p:sp>
        <p:nvSpPr>
          <p:cNvPr id="17" name="Text 15"/>
          <p:cNvSpPr txBox="1"/>
          <p:nvPr/>
        </p:nvSpPr>
        <p:spPr>
          <a:xfrm>
            <a:off x="548640" y="4343400"/>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188720" y="4297680"/>
            <a:ext cx="102412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Oceania leads on average score</a:t>
            </a:r>
            <a:endParaRPr lang="en-US" sz="1600" dirty="0"/>
          </a:p>
        </p:txBody>
      </p:sp>
      <p:sp>
        <p:nvSpPr>
          <p:cNvPr id="19" name="Text 17"/>
          <p:cNvSpPr txBox="1"/>
          <p:nvPr/>
        </p:nvSpPr>
        <p:spPr>
          <a:xfrm>
            <a:off x="1188720" y="4663440"/>
            <a:ext cx="10241280" cy="502920"/>
          </a:xfrm>
          <a:prstGeom prst="rect">
            <a:avLst/>
          </a:prstGeom>
          <a:noFill/>
          <a:ln/>
        </p:spPr>
        <p:txBody>
          <a:bodyPr wrap="square" lIns="0" tIns="0" rIns="0" bIns="0" rtlCol="0" anchor="ctr"/>
          <a:lstStyle/>
          <a:p>
            <a:pPr indent="0" marL="0">
              <a:lnSpc>
                <a:spcPct val="120000"/>
              </a:lnSpc>
              <a:buNone/>
            </a:pPr>
            <a:r>
              <a:rPr lang="en-US" sz="1350" dirty="0">
                <a:solidFill>
                  <a:srgbClr val="5B6B8C"/>
                </a:solidFill>
                <a:latin typeface="Calibri" pitchFamily="34" charset="0"/>
                <a:ea typeface="Calibri" pitchFamily="34" charset="-122"/>
                <a:cs typeface="Calibri" pitchFamily="34" charset="-120"/>
              </a:rPr>
              <a:t>Region-level trends show Oceania ahead, followed by Europe and North America.</a:t>
            </a:r>
            <a:endParaRPr lang="en-US" sz="1350" dirty="0"/>
          </a:p>
        </p:txBody>
      </p:sp>
      <p:sp>
        <p:nvSpPr>
          <p:cNvPr id="20" name="Shape 18"/>
          <p:cNvSpPr/>
          <p:nvPr/>
        </p:nvSpPr>
        <p:spPr>
          <a:xfrm>
            <a:off x="548640" y="5257800"/>
            <a:ext cx="457200" cy="457200"/>
          </a:xfrm>
          <a:prstGeom prst="ellipse">
            <a:avLst/>
          </a:prstGeom>
          <a:solidFill>
            <a:srgbClr val="F2A93B"/>
          </a:solidFill>
          <a:ln/>
        </p:spPr>
      </p:sp>
      <p:sp>
        <p:nvSpPr>
          <p:cNvPr id="21" name="Text 19"/>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5</a:t>
            </a:r>
            <a:endParaRPr lang="en-US" sz="1800" dirty="0"/>
          </a:p>
        </p:txBody>
      </p:sp>
      <p:sp>
        <p:nvSpPr>
          <p:cNvPr id="22" name="Text 20"/>
          <p:cNvSpPr txBox="1"/>
          <p:nvPr/>
        </p:nvSpPr>
        <p:spPr>
          <a:xfrm>
            <a:off x="1188720" y="5212080"/>
            <a:ext cx="102412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The dashboard is easy to explore</a:t>
            </a:r>
            <a:endParaRPr lang="en-US" sz="1600" dirty="0"/>
          </a:p>
        </p:txBody>
      </p:sp>
      <p:sp>
        <p:nvSpPr>
          <p:cNvPr id="23" name="Text 21"/>
          <p:cNvSpPr txBox="1"/>
          <p:nvPr/>
        </p:nvSpPr>
        <p:spPr>
          <a:xfrm>
            <a:off x="1188720" y="5577840"/>
            <a:ext cx="10241280" cy="502920"/>
          </a:xfrm>
          <a:prstGeom prst="rect">
            <a:avLst/>
          </a:prstGeom>
          <a:noFill/>
          <a:ln/>
        </p:spPr>
        <p:txBody>
          <a:bodyPr wrap="square" lIns="0" tIns="0" rIns="0" bIns="0" rtlCol="0" anchor="ctr"/>
          <a:lstStyle/>
          <a:p>
            <a:pPr indent="0" marL="0">
              <a:lnSpc>
                <a:spcPct val="120000"/>
              </a:lnSpc>
              <a:buNone/>
            </a:pPr>
            <a:r>
              <a:rPr lang="en-US" sz="1350" dirty="0">
                <a:solidFill>
                  <a:srgbClr val="5B6B8C"/>
                </a:solidFill>
                <a:latin typeface="Calibri" pitchFamily="34" charset="0"/>
                <a:ea typeface="Calibri" pitchFamily="34" charset="-122"/>
                <a:cs typeface="Calibri" pitchFamily="34" charset="-120"/>
              </a:rPr>
              <a:t>Filters for country, region, university, and subject let anyone dig into the data they care about.</a:t>
            </a:r>
            <a:endParaRPr lang="en-US" sz="1350" dirty="0"/>
          </a:p>
        </p:txBody>
      </p:sp>
      <p:sp>
        <p:nvSpPr>
          <p:cNvPr id="24" name="Text 22"/>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EduVision_DV Dashboard Summary</a:t>
            </a:r>
            <a:endParaRPr lang="en-US" sz="1000" dirty="0"/>
          </a:p>
        </p:txBody>
      </p:sp>
      <p:sp>
        <p:nvSpPr>
          <p:cNvPr id="25" name="Text 2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011680" y="-2011680"/>
            <a:ext cx="5029200" cy="5029200"/>
          </a:xfrm>
          <a:prstGeom prst="ellipse">
            <a:avLst/>
          </a:prstGeom>
          <a:solidFill>
            <a:srgbClr val="141B49"/>
          </a:solidFill>
          <a:ln/>
        </p:spPr>
      </p:sp>
      <p:sp>
        <p:nvSpPr>
          <p:cNvPr id="3" name="Shape 1"/>
          <p:cNvSpPr/>
          <p:nvPr/>
        </p:nvSpPr>
        <p:spPr>
          <a:xfrm>
            <a:off x="9326880" y="4389120"/>
            <a:ext cx="4389120" cy="4389120"/>
          </a:xfrm>
          <a:prstGeom prst="ellipse">
            <a:avLst/>
          </a:prstGeom>
          <a:solidFill>
            <a:srgbClr val="141B49"/>
          </a:solidFill>
          <a:ln/>
        </p:spPr>
      </p:sp>
      <p:sp>
        <p:nvSpPr>
          <p:cNvPr id="4" name="Text 2"/>
          <p:cNvSpPr txBox="1"/>
          <p:nvPr/>
        </p:nvSpPr>
        <p:spPr>
          <a:xfrm>
            <a:off x="822960" y="2743200"/>
            <a:ext cx="91440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Shape 3"/>
          <p:cNvSpPr/>
          <p:nvPr/>
        </p:nvSpPr>
        <p:spPr>
          <a:xfrm>
            <a:off x="868680" y="3566160"/>
            <a:ext cx="548640" cy="45720"/>
          </a:xfrm>
          <a:prstGeom prst="rect">
            <a:avLst/>
          </a:prstGeom>
          <a:solidFill>
            <a:srgbClr val="F2A93B"/>
          </a:solidFill>
          <a:ln/>
        </p:spPr>
      </p:sp>
      <p:sp>
        <p:nvSpPr>
          <p:cNvPr id="6" name="Text 4"/>
          <p:cNvSpPr txBox="1"/>
          <p:nvPr/>
        </p:nvSpPr>
        <p:spPr>
          <a:xfrm>
            <a:off x="822960" y="3794760"/>
            <a:ext cx="822960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Questions or ideas about the EduVision_DV dashboard? Let's discuss.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2026-09-16T05:45:35Z</dcterms:created>
  <dcterms:modified xsi:type="dcterms:W3CDTF">2026-09-16T05:45:35Z</dcterms:modified>
</cp:coreProperties>
</file>